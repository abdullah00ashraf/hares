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leadership and colleagues. Today, I am proud to present Project Hares—Dubai's sovereign, automated fraud triage and threat intelligence system. In an era where social engineering and deepfake scams weaponize local trust, Project Hares provides an instantaneous, privacy-preserving defense shield for every citizen and resident.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actors in the UAE are no longer sending generic spam. They send hyper-targeted, Arabic and English lures impersonating Salik, Dubai Police, and the Central Bank. A victim panics and clicks within minutes. Traditional reporting queues that take days are fundamentally obsolete.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engineered Project Hares on five uncompromised engineering pillars. We guarantee that no resident data ever leaves UAE sovereignty, no citizen phone numbers are stored in plain text, and our mathematical error rate is bounded strictly to 0.1%.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Citizens interact with fraud across multiple mediums. Hares accepts text, URLs, raw voice notes, and screenshots, unifying them into a single automated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waking up heavy neural models, our deterministic engine inspects URLs. Official government sites are verified instantly in 15 milliseconds. Deceptive Cyrillic lookalikes and fake .cc domains are intercepted and neutralized on the spot.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complex semantic analysis is required, our fine-tuned Qwen2.5-3B engine on ZeroGPU A10G analyzes the lure. Wrapped in Colang 2.0 guardrails, it strips citizen PII and enforces a strict JSON output format, preventing model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 cloning is the newest frontier in fraud. Our Whisper Dual-Head architecture inspects the micro-spectral continuity of the audio signal, detecting synthetic vocoder artifacts in under 180 milliseconds with zero false alarms.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is not an afterthought; it is our architecture. Citizen phone numbers are hashed immediately and permanently wiped from volatile RAM. Only the scammer's threat indicators are preserved in the threat intelligence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Dubai is a global melting pot. In compliance with Digital Dubai AI Ethics guidelines, our dialect parity ratio is 0.91, ensuring equal protection across Emirati citizens, Arab residents, and the international expatriate community.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 saves victims. Our webhook acknowledges incoming queries in 3.5 milliseconds, while our complete multi-modal neural verdict is returned in approximately 3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Sankey diagram captures the complete mathematical resolution of 500 audit requests. Deterministic filters absorb 42% of queries immediately, while the conformal prediction engine bounds our false alarm rate to strictly less than 0.1%.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municipal security analysts, Project Hares features a dedicated SOC hub with an interactive STIX 2.1 graph, mapping live relationships between threat actors, phishing domains, and targeted government services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RED threat is confirmed, the citizen is immediately provided with one-tap escalation channels to Dubai Police e-Crime and the 901 hotline, closing the loop between detection and legal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believe in exhaustive, automated verification. Across Playwright E2E suites, Meta CyberSecEval injection batteries, and conformal calibration tests, Project Hares demonstrated 100% test passing and zero PII leaks.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Hares is fully operational, verified across 136 automated test suites, and deployed live. Thank you for your time, and we invite you to explore the live portal and system ledger.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5943600" cy="320040"/>
          </a:xfrm>
          <a:prstGeom prst="roundRect">
            <a:avLst/>
          </a:prstGeom>
          <a:solidFill>
            <a:srgbClr val="11182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10B981"/>
                </a:solidFill>
                <a:latin typeface="Calibri"/>
              </a:defRPr>
            </a:pPr>
            <a:r>
              <a:t>EMIRATE OF DUBAI • MUNICIPAL CYBERSECURITY • SOVEREIGN SENTINEL</a:t>
            </a:r>
          </a:p>
        </p:txBody>
      </p:sp>
      <p:sp>
        <p:nvSpPr>
          <p:cNvPr id="4" name="TextBox 3"/>
          <p:cNvSpPr txBox="1"/>
          <p:nvPr/>
        </p:nvSpPr>
        <p:spPr>
          <a:xfrm>
            <a:off x="731520" y="1600200"/>
            <a:ext cx="10728655" cy="2377440"/>
          </a:xfrm>
          <a:prstGeom prst="rect">
            <a:avLst/>
          </a:prstGeom>
          <a:noFill/>
        </p:spPr>
        <p:txBody>
          <a:bodyPr wrap="square">
            <a:spAutoFit/>
          </a:bodyPr>
          <a:lstStyle/>
          <a:p>
            <a:pPr>
              <a:spcAft>
                <a:spcPts val="1000"/>
              </a:spcAft>
              <a:defRPr sz="4400" b="1">
                <a:solidFill>
                  <a:srgbClr val="FFFFFF"/>
                </a:solidFill>
                <a:latin typeface="Calibri"/>
              </a:defRPr>
            </a:pPr>
            <a:r>
              <a:t>PROJECT HARES (مشروع حارس)</a:t>
            </a:r>
          </a:p>
          <a:p>
            <a:pPr>
              <a:spcAft>
                <a:spcPts val="1200"/>
              </a:spcAft>
              <a:defRPr sz="2100">
                <a:solidFill>
                  <a:srgbClr val="F59E0B"/>
                </a:solidFill>
                <a:latin typeface="Calibri"/>
              </a:defRPr>
            </a:pPr>
            <a:r>
              <a:t>Autonomous Sovereign Multi-Modal Fraud Triage &amp; Threat Intelligence System</a:t>
            </a:r>
          </a:p>
          <a:p>
            <a:pPr>
              <a:defRPr sz="1200">
                <a:solidFill>
                  <a:srgbClr val="94A3B8"/>
                </a:solidFill>
                <a:latin typeface="Calibri"/>
              </a:defRPr>
            </a:pPr>
            <a:r>
              <a:t>Production Verified • DESC ISR v2.0 • Digital Dubai AI Ethics • Conformal Error Bounded (≤ 0.1%)</a:t>
            </a:r>
          </a:p>
        </p:txBody>
      </p:sp>
      <p:sp>
        <p:nvSpPr>
          <p:cNvPr id="5" name="Rounded Rectangle 4"/>
          <p:cNvSpPr/>
          <p:nvPr/>
        </p:nvSpPr>
        <p:spPr>
          <a:xfrm>
            <a:off x="731520" y="4297680"/>
            <a:ext cx="2514600" cy="146304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spcAft>
                <a:spcPts val="400"/>
              </a:spcAft>
              <a:defRPr sz="850" b="1">
                <a:solidFill>
                  <a:srgbClr val="2563EB"/>
                </a:solidFill>
              </a:defRPr>
            </a:pPr>
            <a:r>
              <a:t>CITIZEN PORTAL</a:t>
            </a:r>
          </a:p>
          <a:p>
            <a:pPr>
              <a:spcAft>
                <a:spcPts val="400"/>
              </a:spcAft>
              <a:defRPr sz="1200" b="1">
                <a:solidFill>
                  <a:srgbClr val="FFFFFF"/>
                </a:solidFill>
              </a:defRPr>
            </a:pPr>
            <a:r>
              <a:t>Vercel Edge Portal</a:t>
            </a:r>
          </a:p>
          <a:p>
            <a:pPr>
              <a:defRPr sz="950">
                <a:solidFill>
                  <a:srgbClr val="94A3B8"/>
                </a:solidFill>
              </a:defRPr>
            </a:pPr>
            <a:r>
              <a:t>hares-wheat.vercel.app</a:t>
            </a:r>
          </a:p>
        </p:txBody>
      </p:sp>
      <p:sp>
        <p:nvSpPr>
          <p:cNvPr id="6" name="Rectangle 5"/>
          <p:cNvSpPr/>
          <p:nvPr/>
        </p:nvSpPr>
        <p:spPr>
          <a:xfrm>
            <a:off x="731520" y="4297680"/>
            <a:ext cx="25146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74720" y="4297680"/>
            <a:ext cx="2514600" cy="146304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spcAft>
                <a:spcPts val="400"/>
              </a:spcAft>
              <a:defRPr sz="850" b="1">
                <a:solidFill>
                  <a:srgbClr val="10B981"/>
                </a:solidFill>
              </a:defRPr>
            </a:pPr>
            <a:r>
              <a:t>CORE ENGINE</a:t>
            </a:r>
          </a:p>
          <a:p>
            <a:pPr>
              <a:spcAft>
                <a:spcPts val="400"/>
              </a:spcAft>
              <a:defRPr sz="1200" b="1">
                <a:solidFill>
                  <a:srgbClr val="FFFFFF"/>
                </a:solidFill>
              </a:defRPr>
            </a:pPr>
            <a:r>
              <a:t>FastAPI Gateway</a:t>
            </a:r>
          </a:p>
          <a:p>
            <a:pPr>
              <a:defRPr sz="950">
                <a:solidFill>
                  <a:srgbClr val="94A3B8"/>
                </a:solidFill>
              </a:defRPr>
            </a:pPr>
            <a:r>
              <a:t>hares-api.onrender.com</a:t>
            </a:r>
          </a:p>
        </p:txBody>
      </p:sp>
      <p:sp>
        <p:nvSpPr>
          <p:cNvPr id="8" name="Rectangle 7"/>
          <p:cNvSpPr/>
          <p:nvPr/>
        </p:nvSpPr>
        <p:spPr>
          <a:xfrm>
            <a:off x="3474720" y="4297680"/>
            <a:ext cx="25146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4297680"/>
            <a:ext cx="2514600" cy="146304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spcAft>
                <a:spcPts val="400"/>
              </a:spcAft>
              <a:defRPr sz="850" b="1">
                <a:solidFill>
                  <a:srgbClr val="06B6D4"/>
                </a:solidFill>
              </a:defRPr>
            </a:pPr>
            <a:r>
              <a:t>NEURAL INFERENCE</a:t>
            </a:r>
          </a:p>
          <a:p>
            <a:pPr>
              <a:spcAft>
                <a:spcPts val="400"/>
              </a:spcAft>
              <a:defRPr sz="1200" b="1">
                <a:solidFill>
                  <a:srgbClr val="FFFFFF"/>
                </a:solidFill>
              </a:defRPr>
            </a:pPr>
            <a:r>
              <a:t>HF ZeroGPU Space</a:t>
            </a:r>
          </a:p>
          <a:p>
            <a:pPr>
              <a:defRPr sz="950">
                <a:solidFill>
                  <a:srgbClr val="94A3B8"/>
                </a:solidFill>
              </a:defRPr>
            </a:pPr>
            <a:r>
              <a:t>Qwen2.5-3B-Instruct FP16</a:t>
            </a:r>
          </a:p>
        </p:txBody>
      </p:sp>
      <p:sp>
        <p:nvSpPr>
          <p:cNvPr id="10" name="Rectangle 9"/>
          <p:cNvSpPr/>
          <p:nvPr/>
        </p:nvSpPr>
        <p:spPr>
          <a:xfrm>
            <a:off x="6217920" y="4297680"/>
            <a:ext cx="251460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1120" y="4297680"/>
            <a:ext cx="2514600" cy="146304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spcAft>
                <a:spcPts val="400"/>
              </a:spcAft>
              <a:defRPr sz="850" b="1">
                <a:solidFill>
                  <a:srgbClr val="9333EA"/>
                </a:solidFill>
              </a:defRPr>
            </a:pPr>
            <a:r>
              <a:t>RELATIONAL VAULT</a:t>
            </a:r>
          </a:p>
          <a:p>
            <a:pPr>
              <a:spcAft>
                <a:spcPts val="400"/>
              </a:spcAft>
              <a:defRPr sz="1200" b="1">
                <a:solidFill>
                  <a:srgbClr val="FFFFFF"/>
                </a:solidFill>
              </a:defRPr>
            </a:pPr>
            <a:r>
              <a:t>Neon Serverless PG16</a:t>
            </a:r>
          </a:p>
          <a:p>
            <a:pPr>
              <a:defRPr sz="950">
                <a:solidFill>
                  <a:srgbClr val="94A3B8"/>
                </a:solidFill>
              </a:defRPr>
            </a:pPr>
            <a:r>
              <a:t>AWS Managed Tier + Pooling</a:t>
            </a:r>
          </a:p>
        </p:txBody>
      </p:sp>
      <p:sp>
        <p:nvSpPr>
          <p:cNvPr id="12" name="Rectangle 11"/>
          <p:cNvSpPr/>
          <p:nvPr/>
        </p:nvSpPr>
        <p:spPr>
          <a:xfrm>
            <a:off x="8961120" y="4297680"/>
            <a:ext cx="2514600"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035040"/>
            <a:ext cx="10728655" cy="457200"/>
          </a:xfrm>
          <a:prstGeom prst="rect">
            <a:avLst/>
          </a:prstGeom>
          <a:noFill/>
        </p:spPr>
        <p:txBody>
          <a:bodyPr wrap="none">
            <a:spAutoFit/>
          </a:bodyPr>
          <a:lstStyle/>
          <a:p>
            <a:pPr algn="ctr">
              <a:defRPr sz="950">
                <a:solidFill>
                  <a:srgbClr val="94A3B8"/>
                </a:solidFill>
              </a:defRPr>
            </a:pPr>
            <a:r>
              <a:t>Independent Open-Source Defense Research • Not an Official Government Agency • Direct Synchronization with Dubai Police e-Crime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THREAT INTELLIGENCE</a:t>
            </a:r>
          </a:p>
          <a:p>
            <a:pPr>
              <a:defRPr sz="2300" b="1">
                <a:solidFill>
                  <a:srgbClr val="0F172A"/>
                </a:solidFill>
                <a:latin typeface="Calibri"/>
              </a:defRPr>
            </a:pPr>
            <a:r>
              <a:t>The Dubai Cyber Threat Landscape: The Urgency in Numbers</a:t>
            </a:r>
          </a:p>
        </p:txBody>
      </p:sp>
      <p:sp>
        <p:nvSpPr>
          <p:cNvPr id="3" name="Rounded Rectangle 2"/>
          <p:cNvSpPr/>
          <p:nvPr/>
        </p:nvSpPr>
        <p:spPr>
          <a:xfrm>
            <a:off x="731520" y="1691640"/>
            <a:ext cx="33832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731520"/>
          <a:lstStyle/>
          <a:p>
            <a:pPr algn="ctr">
              <a:spcAft>
                <a:spcPts val="200"/>
              </a:spcAft>
              <a:defRPr sz="3800" b="1">
                <a:solidFill>
                  <a:srgbClr val="EF4444"/>
                </a:solidFill>
              </a:defRPr>
            </a:pPr>
            <a:r>
              <a:t>60%</a:t>
            </a:r>
          </a:p>
          <a:p>
            <a:pPr>
              <a:spcAft>
                <a:spcPts val="1400"/>
              </a:spcAft>
              <a:defRPr sz="950" b="1">
                <a:solidFill>
                  <a:srgbClr val="64748B"/>
                </a:solidFill>
              </a:defRPr>
            </a:pPr>
            <a:r>
              <a:t>OF REPORTED ATTACKS</a:t>
            </a:r>
          </a:p>
          <a:p>
            <a:pPr>
              <a:spcAft>
                <a:spcPts val="1000"/>
              </a:spcAft>
              <a:defRPr sz="1300" b="1">
                <a:solidFill>
                  <a:srgbClr val="0F172A"/>
                </a:solidFill>
              </a:defRPr>
            </a:pPr>
            <a:r>
              <a:t>MUNICIPAL IMPERSONATION</a:t>
            </a:r>
          </a:p>
          <a:p>
            <a:pPr>
              <a:lnSpc>
                <a:spcPct val="125000"/>
              </a:lnSpc>
              <a:defRPr sz="1100">
                <a:solidFill>
                  <a:srgbClr val="64748B"/>
                </a:solidFill>
              </a:defRPr>
            </a:pPr>
            <a:r>
              <a:t>Attackers weaponize local municipal trust via fake Salik toll alerts and Dubai Police legal summonses demanding immediate fines.</a:t>
            </a:r>
          </a:p>
        </p:txBody>
      </p:sp>
      <p:sp>
        <p:nvSpPr>
          <p:cNvPr id="4" name="Rectangle 3"/>
          <p:cNvSpPr/>
          <p:nvPr/>
        </p:nvSpPr>
        <p:spPr>
          <a:xfrm>
            <a:off x="731520" y="1691640"/>
            <a:ext cx="338328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920240"/>
            <a:ext cx="2834640" cy="292608"/>
          </a:xfrm>
          <a:prstGeom prst="roundRect">
            <a:avLst/>
          </a:prstGeom>
          <a:solidFill>
            <a:srgbClr val="F8FAFC"/>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EF4444"/>
                </a:solidFill>
                <a:latin typeface="Calibri"/>
              </a:defRPr>
            </a:pPr>
            <a:r>
              <a:t>CRITICAL SECTOR ATTACK</a:t>
            </a:r>
          </a:p>
        </p:txBody>
      </p:sp>
      <p:sp>
        <p:nvSpPr>
          <p:cNvPr id="6" name="Rounded Rectangle 5"/>
          <p:cNvSpPr/>
          <p:nvPr/>
        </p:nvSpPr>
        <p:spPr>
          <a:xfrm>
            <a:off x="4389120" y="1691640"/>
            <a:ext cx="33832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731520"/>
          <a:lstStyle/>
          <a:p>
            <a:pPr algn="ctr">
              <a:spcAft>
                <a:spcPts val="200"/>
              </a:spcAft>
              <a:defRPr sz="3800" b="1">
                <a:solidFill>
                  <a:srgbClr val="F59E0B"/>
                </a:solidFill>
              </a:defRPr>
            </a:pPr>
            <a:r>
              <a:t>&lt;180ms</a:t>
            </a:r>
          </a:p>
          <a:p>
            <a:pPr>
              <a:spcAft>
                <a:spcPts val="1400"/>
              </a:spcAft>
              <a:defRPr sz="950" b="1">
                <a:solidFill>
                  <a:srgbClr val="64748B"/>
                </a:solidFill>
              </a:defRPr>
            </a:pPr>
            <a:r>
              <a:t>VOCODER EXPLOITATION</a:t>
            </a:r>
          </a:p>
          <a:p>
            <a:pPr>
              <a:spcAft>
                <a:spcPts val="1000"/>
              </a:spcAft>
              <a:defRPr sz="1300" b="1">
                <a:solidFill>
                  <a:srgbClr val="0F172A"/>
                </a:solidFill>
              </a:defRPr>
            </a:pPr>
            <a:r>
              <a:t>NEURAL VOICE CLONING</a:t>
            </a:r>
          </a:p>
          <a:p>
            <a:pPr>
              <a:lnSpc>
                <a:spcPct val="125000"/>
              </a:lnSpc>
              <a:defRPr sz="1100">
                <a:solidFill>
                  <a:srgbClr val="64748B"/>
                </a:solidFill>
              </a:defRPr>
            </a:pPr>
            <a:r>
              <a:t>WhatsApp voice notes generated by neural vocoders impersonate family members and executives in high-panic extortion scams.</a:t>
            </a:r>
          </a:p>
        </p:txBody>
      </p:sp>
      <p:sp>
        <p:nvSpPr>
          <p:cNvPr id="7" name="Rectangle 6"/>
          <p:cNvSpPr/>
          <p:nvPr/>
        </p:nvSpPr>
        <p:spPr>
          <a:xfrm>
            <a:off x="4389120" y="1691640"/>
            <a:ext cx="338328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920240"/>
            <a:ext cx="2834640" cy="292608"/>
          </a:xfrm>
          <a:prstGeom prst="roundRect">
            <a:avLst/>
          </a:prstGeom>
          <a:solidFill>
            <a:srgbClr val="F8FAF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F59E0B"/>
                </a:solidFill>
                <a:latin typeface="Calibri"/>
              </a:defRPr>
            </a:pPr>
            <a:r>
              <a:t>EMERGING THREAT VECTOR</a:t>
            </a:r>
          </a:p>
        </p:txBody>
      </p:sp>
      <p:sp>
        <p:nvSpPr>
          <p:cNvPr id="9" name="Rounded Rectangle 8"/>
          <p:cNvSpPr/>
          <p:nvPr/>
        </p:nvSpPr>
        <p:spPr>
          <a:xfrm>
            <a:off x="8046720" y="1691640"/>
            <a:ext cx="33832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731520"/>
          <a:lstStyle/>
          <a:p>
            <a:pPr algn="ctr">
              <a:spcAft>
                <a:spcPts val="200"/>
              </a:spcAft>
              <a:defRPr sz="3800" b="1">
                <a:solidFill>
                  <a:srgbClr val="2563EB"/>
                </a:solidFill>
              </a:defRPr>
            </a:pPr>
            <a:r>
              <a:t>15 Min</a:t>
            </a:r>
          </a:p>
          <a:p>
            <a:pPr>
              <a:spcAft>
                <a:spcPts val="1400"/>
              </a:spcAft>
              <a:defRPr sz="950" b="1">
                <a:solidFill>
                  <a:srgbClr val="64748B"/>
                </a:solidFill>
              </a:defRPr>
            </a:pPr>
            <a:r>
              <a:t>CITIZEN VULNERABILITY</a:t>
            </a:r>
          </a:p>
          <a:p>
            <a:pPr>
              <a:spcAft>
                <a:spcPts val="1000"/>
              </a:spcAft>
              <a:defRPr sz="1300" b="1">
                <a:solidFill>
                  <a:srgbClr val="0F172A"/>
                </a:solidFill>
              </a:defRPr>
            </a:pPr>
            <a:r>
              <a:t>THE RESPONSE GAP</a:t>
            </a:r>
          </a:p>
          <a:p>
            <a:pPr>
              <a:lnSpc>
                <a:spcPct val="125000"/>
              </a:lnSpc>
              <a:defRPr sz="1100">
                <a:solidFill>
                  <a:srgbClr val="64748B"/>
                </a:solidFill>
              </a:defRPr>
            </a:pPr>
            <a:r>
              <a:t>Victims comply within 15 minutes of receiving a threat, while traditional municipal manual review takes 24 to 48 hours.</a:t>
            </a:r>
          </a:p>
        </p:txBody>
      </p:sp>
      <p:sp>
        <p:nvSpPr>
          <p:cNvPr id="10" name="Rectangle 9"/>
          <p:cNvSpPr/>
          <p:nvPr/>
        </p:nvSpPr>
        <p:spPr>
          <a:xfrm>
            <a:off x="8046720" y="1691640"/>
            <a:ext cx="338328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21040" y="1920240"/>
            <a:ext cx="2834640" cy="292608"/>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2563EB"/>
                </a:solidFill>
                <a:latin typeface="Calibri"/>
              </a:defRPr>
            </a:pPr>
            <a:r>
              <a:t>ASYMMETRIC DEFENSE GAP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ARCHITECTURAL MANDATES</a:t>
            </a:r>
          </a:p>
          <a:p>
            <a:pPr>
              <a:defRPr sz="2300" b="1">
                <a:solidFill>
                  <a:srgbClr val="0F172A"/>
                </a:solidFill>
                <a:latin typeface="Calibri"/>
              </a:defRPr>
            </a:pPr>
            <a:r>
              <a:t>Sovereign System Architecture: The Five Core Invariants</a:t>
            </a:r>
          </a:p>
        </p:txBody>
      </p:sp>
      <p:sp>
        <p:nvSpPr>
          <p:cNvPr id="3" name="Rounded Rectangle 2"/>
          <p:cNvSpPr/>
          <p:nvPr/>
        </p:nvSpPr>
        <p:spPr>
          <a:xfrm>
            <a:off x="731520" y="1645920"/>
            <a:ext cx="10728655" cy="777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137160" rIns="2011680"/>
          <a:lstStyle/>
          <a:p>
            <a:pPr algn="ctr">
              <a:defRPr sz="1200" b="1">
                <a:solidFill>
                  <a:srgbClr val="2563EB"/>
                </a:solidFill>
              </a:defRPr>
            </a:pPr>
            <a:r>
              <a:t>1. SUB-SECOND INGRESS (FR-3.3)</a:t>
            </a:r>
          </a:p>
          <a:p>
            <a:pPr>
              <a:defRPr sz="1000">
                <a:solidFill>
                  <a:srgbClr val="64748B"/>
                </a:solidFill>
              </a:defRPr>
            </a:pPr>
            <a:r>
              <a:t>Webhook HMAC-SHA256 signature check &amp; asynchronous Celery queue push; &lt;3s full triage.</a:t>
            </a:r>
          </a:p>
        </p:txBody>
      </p:sp>
      <p:sp>
        <p:nvSpPr>
          <p:cNvPr id="4" name="Rectangle 3"/>
          <p:cNvSpPr/>
          <p:nvPr/>
        </p:nvSpPr>
        <p:spPr>
          <a:xfrm>
            <a:off x="731520" y="1645920"/>
            <a:ext cx="109728"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326880" y="1865376"/>
            <a:ext cx="1920240" cy="329184"/>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2563EB"/>
                </a:solidFill>
                <a:latin typeface="Calibri"/>
              </a:defRPr>
            </a:pPr>
            <a:r>
              <a:t>3.5ms P99 SLA</a:t>
            </a:r>
          </a:p>
        </p:txBody>
      </p:sp>
      <p:sp>
        <p:nvSpPr>
          <p:cNvPr id="6" name="Rounded Rectangle 5"/>
          <p:cNvSpPr/>
          <p:nvPr/>
        </p:nvSpPr>
        <p:spPr>
          <a:xfrm>
            <a:off x="731520" y="2542032"/>
            <a:ext cx="10728655" cy="777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137160" rIns="2011680"/>
          <a:lstStyle/>
          <a:p>
            <a:pPr algn="ctr">
              <a:defRPr sz="1200" b="1">
                <a:solidFill>
                  <a:srgbClr val="10B981"/>
                </a:solidFill>
              </a:defRPr>
            </a:pPr>
            <a:r>
              <a:t>2. 100% DATA SOVEREIGNTY (NFR-1.1)</a:t>
            </a:r>
          </a:p>
          <a:p>
            <a:pPr>
              <a:defRPr sz="1000">
                <a:solidFill>
                  <a:srgbClr val="64748B"/>
                </a:solidFill>
              </a:defRPr>
            </a:pPr>
            <a:r>
              <a:t>100% on-premise model execution; zero resident telemetry dispatched to offshore commercial APIs.</a:t>
            </a:r>
          </a:p>
        </p:txBody>
      </p:sp>
      <p:sp>
        <p:nvSpPr>
          <p:cNvPr id="7" name="Rectangle 6"/>
          <p:cNvSpPr/>
          <p:nvPr/>
        </p:nvSpPr>
        <p:spPr>
          <a:xfrm>
            <a:off x="731520" y="2542032"/>
            <a:ext cx="109728"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326880" y="2761488"/>
            <a:ext cx="1920240" cy="329184"/>
          </a:xfrm>
          <a:prstGeom prst="roundRect">
            <a:avLst/>
          </a:prstGeom>
          <a:solidFill>
            <a:srgbClr val="F8FAF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10B981"/>
                </a:solidFill>
                <a:latin typeface="Calibri"/>
              </a:defRPr>
            </a:pPr>
            <a:r>
              <a:t>Zero Offshore APIs</a:t>
            </a:r>
          </a:p>
        </p:txBody>
      </p:sp>
      <p:sp>
        <p:nvSpPr>
          <p:cNvPr id="9" name="Rounded Rectangle 8"/>
          <p:cNvSpPr/>
          <p:nvPr/>
        </p:nvSpPr>
        <p:spPr>
          <a:xfrm>
            <a:off x="731520" y="3438144"/>
            <a:ext cx="10728655" cy="777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137160" rIns="2011680"/>
          <a:lstStyle/>
          <a:p>
            <a:pPr algn="ctr">
              <a:defRPr sz="1200" b="1">
                <a:solidFill>
                  <a:srgbClr val="F59E0B"/>
                </a:solidFill>
              </a:defRPr>
            </a:pPr>
            <a:r>
              <a:t>3. ZERO CITIZEN PII RETENTION (FR-4.1)</a:t>
            </a:r>
          </a:p>
          <a:p>
            <a:pPr>
              <a:defRPr sz="1000">
                <a:solidFill>
                  <a:srgbClr val="64748B"/>
                </a:solidFill>
              </a:defRPr>
            </a:pPr>
            <a:r>
              <a:t>Citizen phone numbers hashed via HMAC-SHA256 (32B salt); raw strings purged immediately from RAM.</a:t>
            </a:r>
          </a:p>
        </p:txBody>
      </p:sp>
      <p:sp>
        <p:nvSpPr>
          <p:cNvPr id="10" name="Rectangle 9"/>
          <p:cNvSpPr/>
          <p:nvPr/>
        </p:nvSpPr>
        <p:spPr>
          <a:xfrm>
            <a:off x="731520" y="3438144"/>
            <a:ext cx="109728"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0" y="3657600"/>
            <a:ext cx="1920240" cy="329184"/>
          </a:xfrm>
          <a:prstGeom prst="roundRect">
            <a:avLst/>
          </a:prstGeom>
          <a:solidFill>
            <a:srgbClr val="F8FAF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F59E0B"/>
                </a:solidFill>
                <a:latin typeface="Calibri"/>
              </a:defRPr>
            </a:pPr>
            <a:r>
              <a:t>0 Plaintext Persisted</a:t>
            </a:r>
          </a:p>
        </p:txBody>
      </p:sp>
      <p:sp>
        <p:nvSpPr>
          <p:cNvPr id="12" name="Rounded Rectangle 11"/>
          <p:cNvSpPr/>
          <p:nvPr/>
        </p:nvSpPr>
        <p:spPr>
          <a:xfrm>
            <a:off x="731520" y="4334256"/>
            <a:ext cx="10728655" cy="777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137160" rIns="2011680"/>
          <a:lstStyle/>
          <a:p>
            <a:pPr algn="ctr">
              <a:defRPr sz="1200" b="1">
                <a:solidFill>
                  <a:srgbClr val="EF4444"/>
                </a:solidFill>
              </a:defRPr>
            </a:pPr>
            <a:r>
              <a:t>4. BOUNDED ERROR RATE (FR-1.4)</a:t>
            </a:r>
          </a:p>
          <a:p>
            <a:pPr>
              <a:defRPr sz="1000">
                <a:solidFill>
                  <a:srgbClr val="64748B"/>
                </a:solidFill>
              </a:defRPr>
            </a:pPr>
            <a:r>
              <a:t>Non-parametric Conformal Prediction guarantees False Positive Rate ≤ 0.1% at 95% confidence.</a:t>
            </a:r>
          </a:p>
        </p:txBody>
      </p:sp>
      <p:sp>
        <p:nvSpPr>
          <p:cNvPr id="13" name="Rectangle 12"/>
          <p:cNvSpPr/>
          <p:nvPr/>
        </p:nvSpPr>
        <p:spPr>
          <a:xfrm>
            <a:off x="731520" y="4334256"/>
            <a:ext cx="109728" cy="777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326880" y="4553712"/>
            <a:ext cx="1920240" cy="329184"/>
          </a:xfrm>
          <a:prstGeom prst="roundRect">
            <a:avLst/>
          </a:prstGeom>
          <a:solidFill>
            <a:srgbClr val="F8FAFC"/>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EF4444"/>
                </a:solidFill>
                <a:latin typeface="Calibri"/>
              </a:defRPr>
            </a:pPr>
            <a:r>
              <a:t>FPR ≤ 0.1% Bound</a:t>
            </a:r>
          </a:p>
        </p:txBody>
      </p:sp>
      <p:sp>
        <p:nvSpPr>
          <p:cNvPr id="15" name="Rounded Rectangle 14"/>
          <p:cNvSpPr/>
          <p:nvPr/>
        </p:nvSpPr>
        <p:spPr>
          <a:xfrm>
            <a:off x="731520" y="5230368"/>
            <a:ext cx="10728655" cy="777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137160" rIns="2011680"/>
          <a:lstStyle/>
          <a:p>
            <a:pPr algn="ctr">
              <a:defRPr sz="1200" b="1">
                <a:solidFill>
                  <a:srgbClr val="9333EA"/>
                </a:solidFill>
              </a:defRPr>
            </a:pPr>
            <a:r>
              <a:t>5. DUBAI POLICE ESCALATION</a:t>
            </a:r>
          </a:p>
          <a:p>
            <a:pPr>
              <a:defRPr sz="1000">
                <a:solidFill>
                  <a:srgbClr val="64748B"/>
                </a:solidFill>
              </a:defRPr>
            </a:pPr>
            <a:r>
              <a:t>Automated synchronization of verified Class A threat indicators with Dubai Police e-Crime &amp; 901.</a:t>
            </a:r>
          </a:p>
        </p:txBody>
      </p:sp>
      <p:sp>
        <p:nvSpPr>
          <p:cNvPr id="16" name="Rectangle 15"/>
          <p:cNvSpPr/>
          <p:nvPr/>
        </p:nvSpPr>
        <p:spPr>
          <a:xfrm>
            <a:off x="731520" y="5230368"/>
            <a:ext cx="109728" cy="77724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26880" y="5449824"/>
            <a:ext cx="1920240" cy="329184"/>
          </a:xfrm>
          <a:prstGeom prst="roundRect">
            <a:avLst/>
          </a:prstGeom>
          <a:solidFill>
            <a:srgbClr val="F8FAFC"/>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9333EA"/>
                </a:solidFill>
                <a:latin typeface="Calibri"/>
              </a:defRPr>
            </a:pPr>
            <a:r>
              <a:t>ecrime.ae Auto-Sync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SENSOR ARRAY</a:t>
            </a:r>
          </a:p>
          <a:p>
            <a:pPr>
              <a:defRPr sz="2300" b="1">
                <a:solidFill>
                  <a:srgbClr val="0F172A"/>
                </a:solidFill>
                <a:latin typeface="Calibri"/>
              </a:defRPr>
            </a:pPr>
            <a:r>
              <a:t>Multi-Modal Citizen Verification: 4 Unified Ingress Vectors</a:t>
            </a:r>
          </a:p>
        </p:txBody>
      </p:sp>
      <p:sp>
        <p:nvSpPr>
          <p:cNvPr id="3" name="Rounded Rectangle 2"/>
          <p:cNvSpPr/>
          <p:nvPr/>
        </p:nvSpPr>
        <p:spPr>
          <a:xfrm>
            <a:off x="731520" y="1691640"/>
            <a:ext cx="52422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94360"/>
          <a:lstStyle/>
          <a:p>
            <a:pPr algn="ctr">
              <a:spcAft>
                <a:spcPts val="800"/>
              </a:spcAft>
              <a:defRPr sz="1300" b="1">
                <a:solidFill>
                  <a:srgbClr val="0F172A"/>
                </a:solidFill>
              </a:defRPr>
            </a:pPr>
            <a:r>
              <a:t>FORWARDED TEXT &amp; SMS</a:t>
            </a:r>
          </a:p>
          <a:p>
            <a:pPr>
              <a:lnSpc>
                <a:spcPct val="125000"/>
              </a:lnSpc>
              <a:defRPr sz="1050">
                <a:solidFill>
                  <a:srgbClr val="64748B"/>
                </a:solidFill>
              </a:defRPr>
            </a:pPr>
            <a:r>
              <a:t>Bilingual text processing handling Emirati Gulf Arabic, Modern Standard Arabic (MSA), Expat English, and Arabizi SMS slang.</a:t>
            </a:r>
          </a:p>
        </p:txBody>
      </p:sp>
      <p:sp>
        <p:nvSpPr>
          <p:cNvPr id="4" name="Rectangle 3"/>
          <p:cNvSpPr/>
          <p:nvPr/>
        </p:nvSpPr>
        <p:spPr>
          <a:xfrm>
            <a:off x="731520" y="1691640"/>
            <a:ext cx="524225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874520"/>
            <a:ext cx="4693615" cy="274320"/>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2563EB"/>
                </a:solidFill>
                <a:latin typeface="Calibri"/>
              </a:defRPr>
            </a:pPr>
            <a:r>
              <a:t>ENGINE: Qwen2.5-3B + Colang 2.0 Rails</a:t>
            </a:r>
          </a:p>
        </p:txBody>
      </p:sp>
      <p:sp>
        <p:nvSpPr>
          <p:cNvPr id="6" name="Rounded Rectangle 5"/>
          <p:cNvSpPr/>
          <p:nvPr/>
        </p:nvSpPr>
        <p:spPr>
          <a:xfrm>
            <a:off x="6217920" y="1691640"/>
            <a:ext cx="52422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94360"/>
          <a:lstStyle/>
          <a:p>
            <a:pPr algn="ctr">
              <a:spcAft>
                <a:spcPts val="800"/>
              </a:spcAft>
              <a:defRPr sz="1300" b="1">
                <a:solidFill>
                  <a:srgbClr val="0F172A"/>
                </a:solidFill>
              </a:defRPr>
            </a:pPr>
            <a:r>
              <a:t>LINK &amp; DOMAIN INSPECTOR</a:t>
            </a:r>
          </a:p>
          <a:p>
            <a:pPr>
              <a:lnSpc>
                <a:spcPct val="125000"/>
              </a:lnSpc>
              <a:defRPr sz="1050">
                <a:solidFill>
                  <a:srgbClr val="64748B"/>
                </a:solidFill>
              </a:defRPr>
            </a:pPr>
            <a:r>
              <a:t>Deep domain extraction, exact UAE allowlist matching, IDN homoglyph Cyrillic detection, and lookalike radar.</a:t>
            </a:r>
          </a:p>
        </p:txBody>
      </p:sp>
      <p:sp>
        <p:nvSpPr>
          <p:cNvPr id="7" name="Rectangle 6"/>
          <p:cNvSpPr/>
          <p:nvPr/>
        </p:nvSpPr>
        <p:spPr>
          <a:xfrm>
            <a:off x="6217920" y="1691640"/>
            <a:ext cx="524225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92240" y="1874520"/>
            <a:ext cx="4693615" cy="274320"/>
          </a:xfrm>
          <a:prstGeom prst="roundRect">
            <a:avLst/>
          </a:prstGeom>
          <a:solidFill>
            <a:srgbClr val="F8FAF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10B981"/>
                </a:solidFill>
                <a:latin typeface="Calibri"/>
              </a:defRPr>
            </a:pPr>
            <a:r>
              <a:t>ENGINE: uts46 / tldextract Punycode Radar</a:t>
            </a:r>
          </a:p>
        </p:txBody>
      </p:sp>
      <p:sp>
        <p:nvSpPr>
          <p:cNvPr id="9" name="Rounded Rectangle 8"/>
          <p:cNvSpPr/>
          <p:nvPr/>
        </p:nvSpPr>
        <p:spPr>
          <a:xfrm>
            <a:off x="731520" y="3977639"/>
            <a:ext cx="52422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94360"/>
          <a:lstStyle/>
          <a:p>
            <a:pPr algn="ctr">
              <a:spcAft>
                <a:spcPts val="800"/>
              </a:spcAft>
              <a:defRPr sz="1300" b="1">
                <a:solidFill>
                  <a:srgbClr val="0F172A"/>
                </a:solidFill>
              </a:defRPr>
            </a:pPr>
            <a:r>
              <a:t>VOICE NOTE / AUDIO ANALYZER</a:t>
            </a:r>
          </a:p>
          <a:p>
            <a:pPr>
              <a:lnSpc>
                <a:spcPct val="125000"/>
              </a:lnSpc>
              <a:defRPr sz="1050">
                <a:solidFill>
                  <a:srgbClr val="64748B"/>
                </a:solidFill>
              </a:defRPr>
            </a:pPr>
            <a:r>
              <a:t>WhatsApp 16kHz mono Opus decoding, pitch jitter (F0) &amp; shimmer extraction, and neural deepfake classification.</a:t>
            </a:r>
          </a:p>
        </p:txBody>
      </p:sp>
      <p:sp>
        <p:nvSpPr>
          <p:cNvPr id="10" name="Rectangle 9"/>
          <p:cNvSpPr/>
          <p:nvPr/>
        </p:nvSpPr>
        <p:spPr>
          <a:xfrm>
            <a:off x="731520" y="3977639"/>
            <a:ext cx="524225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4160519"/>
            <a:ext cx="4693615" cy="274320"/>
          </a:xfrm>
          <a:prstGeom prst="roundRect">
            <a:avLst/>
          </a:prstGeom>
          <a:solidFill>
            <a:srgbClr val="F8FAF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F59E0B"/>
                </a:solidFill>
                <a:latin typeface="Calibri"/>
              </a:defRPr>
            </a:pPr>
            <a:r>
              <a:t>ENGINE: Whisper Dual-Head + SpecRNet</a:t>
            </a:r>
          </a:p>
        </p:txBody>
      </p:sp>
      <p:sp>
        <p:nvSpPr>
          <p:cNvPr id="12" name="Rounded Rectangle 11"/>
          <p:cNvSpPr/>
          <p:nvPr/>
        </p:nvSpPr>
        <p:spPr>
          <a:xfrm>
            <a:off x="6217920" y="3977639"/>
            <a:ext cx="52422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94360"/>
          <a:lstStyle/>
          <a:p>
            <a:pPr algn="ctr">
              <a:spcAft>
                <a:spcPts val="800"/>
              </a:spcAft>
              <a:defRPr sz="1300" b="1">
                <a:solidFill>
                  <a:srgbClr val="0F172A"/>
                </a:solidFill>
              </a:defRPr>
            </a:pPr>
            <a:r>
              <a:t>SCREENSHOT IMAGE OCR</a:t>
            </a:r>
          </a:p>
          <a:p>
            <a:pPr>
              <a:lnSpc>
                <a:spcPct val="125000"/>
              </a:lnSpc>
              <a:defRPr sz="1050">
                <a:solidFill>
                  <a:srgbClr val="64748B"/>
                </a:solidFill>
              </a:defRPr>
            </a:pPr>
            <a:r>
              <a:t>Optical Character Recognition extracting bilingual Arabic/English text from captured SMS notifications and spoofed portals.</a:t>
            </a:r>
          </a:p>
        </p:txBody>
      </p:sp>
      <p:sp>
        <p:nvSpPr>
          <p:cNvPr id="13" name="Rectangle 12"/>
          <p:cNvSpPr/>
          <p:nvPr/>
        </p:nvSpPr>
        <p:spPr>
          <a:xfrm>
            <a:off x="6217920" y="3977639"/>
            <a:ext cx="5242255"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92240" y="4160519"/>
            <a:ext cx="4693615" cy="274320"/>
          </a:xfrm>
          <a:prstGeom prst="roundRect">
            <a:avLst/>
          </a:prstGeom>
          <a:solidFill>
            <a:srgbClr val="F8FAFC"/>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9333EA"/>
                </a:solidFill>
                <a:latin typeface="Calibri"/>
              </a:defRPr>
            </a:pPr>
            <a:r>
              <a:t>ENGINE: TrOCR / Tesseract Sovereign 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DETERMINISTIC GATEWAYS</a:t>
            </a:r>
          </a:p>
          <a:p>
            <a:pPr>
              <a:defRPr sz="2300" b="1">
                <a:solidFill>
                  <a:srgbClr val="0F172A"/>
                </a:solidFill>
                <a:latin typeface="Calibri"/>
              </a:defRPr>
            </a:pPr>
            <a:r>
              <a:t>Deterministic Verification: Tier 1 Allowlist vs. Homoglyph Radar</a:t>
            </a:r>
          </a:p>
        </p:txBody>
      </p:sp>
      <p:sp>
        <p:nvSpPr>
          <p:cNvPr id="3" name="Rounded Rectangle 2"/>
          <p:cNvSpPr/>
          <p:nvPr/>
        </p:nvSpPr>
        <p:spPr>
          <a:xfrm>
            <a:off x="731520" y="1691640"/>
            <a:ext cx="5242255"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800"/>
              </a:spcAft>
              <a:defRPr sz="1400" b="1">
                <a:solidFill>
                  <a:srgbClr val="0F172A"/>
                </a:solidFill>
              </a:defRPr>
            </a:pPr>
            <a:r>
              <a:t>OFFICIAL UAE GOVERNMENT ALLOWLIST</a:t>
            </a:r>
          </a:p>
          <a:p>
            <a:pPr>
              <a:spcAft>
                <a:spcPts val="1000"/>
              </a:spcAft>
              <a:defRPr sz="1050">
                <a:solidFill>
                  <a:srgbClr val="64748B"/>
                </a:solidFill>
              </a:defRPr>
            </a:pPr>
            <a:r>
              <a:t>Matches verified registrable domains across official government and financial institutions:</a:t>
            </a:r>
          </a:p>
          <a:p>
            <a:pPr>
              <a:spcAft>
                <a:spcPts val="400"/>
              </a:spcAft>
              <a:defRPr sz="1000" b="1">
                <a:solidFill>
                  <a:srgbClr val="10B981"/>
                </a:solidFill>
              </a:defRPr>
            </a:pPr>
            <a:r>
              <a:t>✓  .gov.ae (All UAE Federal Ministries)</a:t>
            </a:r>
          </a:p>
          <a:p>
            <a:pPr>
              <a:spcAft>
                <a:spcPts val="400"/>
              </a:spcAft>
              <a:defRPr sz="1000" b="1">
                <a:solidFill>
                  <a:srgbClr val="10B981"/>
                </a:solidFill>
              </a:defRPr>
            </a:pPr>
            <a:r>
              <a:t>✓  .police.gov.ae (Dubai Police GHQ Official)</a:t>
            </a:r>
          </a:p>
          <a:p>
            <a:pPr>
              <a:spcAft>
                <a:spcPts val="400"/>
              </a:spcAft>
              <a:defRPr sz="1000" b="1">
                <a:solidFill>
                  <a:srgbClr val="10B981"/>
                </a:solidFill>
              </a:defRPr>
            </a:pPr>
            <a:r>
              <a:t>✓  dewa.gov.ae (Dubai Electricity &amp; Water)</a:t>
            </a:r>
          </a:p>
          <a:p>
            <a:pPr>
              <a:spcAft>
                <a:spcPts val="400"/>
              </a:spcAft>
              <a:defRPr sz="1000" b="1">
                <a:solidFill>
                  <a:srgbClr val="10B981"/>
                </a:solidFill>
              </a:defRPr>
            </a:pPr>
            <a:r>
              <a:t>✓  salik.ae (Official Road Toll Gate System)</a:t>
            </a:r>
          </a:p>
          <a:p>
            <a:pPr>
              <a:spcAft>
                <a:spcPts val="400"/>
              </a:spcAft>
              <a:defRPr sz="1000" b="1">
                <a:solidFill>
                  <a:srgbClr val="10B981"/>
                </a:solidFill>
              </a:defRPr>
            </a:pPr>
            <a:r>
              <a:t>✓  Licensed UAE Central Bank Web Portals</a:t>
            </a:r>
          </a:p>
        </p:txBody>
      </p:sp>
      <p:sp>
        <p:nvSpPr>
          <p:cNvPr id="4" name="Rectangle 3"/>
          <p:cNvSpPr/>
          <p:nvPr/>
        </p:nvSpPr>
        <p:spPr>
          <a:xfrm>
            <a:off x="731520" y="1691640"/>
            <a:ext cx="524225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920240"/>
            <a:ext cx="2926080" cy="292608"/>
          </a:xfrm>
          <a:prstGeom prst="roundRect">
            <a:avLst/>
          </a:prstGeom>
          <a:solidFill>
            <a:srgbClr val="F8FAF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10B981"/>
                </a:solidFill>
                <a:latin typeface="Calibri"/>
              </a:defRPr>
            </a:pPr>
            <a:r>
              <a:t>INSTANT GREEN  •  &lt;15MS LATENCY</a:t>
            </a:r>
          </a:p>
        </p:txBody>
      </p:sp>
      <p:sp>
        <p:nvSpPr>
          <p:cNvPr id="6" name="Rounded Rectangle 5"/>
          <p:cNvSpPr/>
          <p:nvPr/>
        </p:nvSpPr>
        <p:spPr>
          <a:xfrm>
            <a:off x="6217920" y="1691640"/>
            <a:ext cx="5242255"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800"/>
              </a:spcAft>
              <a:defRPr sz="1400" b="1">
                <a:solidFill>
                  <a:srgbClr val="0F172A"/>
                </a:solidFill>
              </a:defRPr>
            </a:pPr>
            <a:r>
              <a:t>IDN HOMOGLYPH &amp; PUNYCODE RADAR</a:t>
            </a:r>
          </a:p>
          <a:p>
            <a:pPr>
              <a:spcAft>
                <a:spcPts val="1000"/>
              </a:spcAft>
              <a:defRPr sz="1050">
                <a:solidFill>
                  <a:srgbClr val="64748B"/>
                </a:solidFill>
              </a:defRPr>
            </a:pPr>
            <a:r>
              <a:t>Detects Unicode cross-script mixing and deceptive internationalized domains:</a:t>
            </a:r>
          </a:p>
          <a:p>
            <a:pPr>
              <a:spcAft>
                <a:spcPts val="400"/>
              </a:spcAft>
              <a:defRPr sz="1000" b="1">
                <a:solidFill>
                  <a:srgbClr val="EF4444"/>
                </a:solidFill>
              </a:defRPr>
            </a:pPr>
            <a:r>
              <a:t>⚠  Cyrillic lookalikes (e.g. Cyrillic 'а', 'о', 'р')</a:t>
            </a:r>
          </a:p>
          <a:p>
            <a:pPr>
              <a:spcAft>
                <a:spcPts val="400"/>
              </a:spcAft>
              <a:defRPr sz="1000" b="1">
                <a:solidFill>
                  <a:srgbClr val="EF4444"/>
                </a:solidFill>
              </a:defRPr>
            </a:pPr>
            <a:r>
              <a:t>⚠  Deceptive Punycode strings (e.g. xn--salk-...) </a:t>
            </a:r>
          </a:p>
          <a:p>
            <a:pPr>
              <a:spcAft>
                <a:spcPts val="400"/>
              </a:spcAft>
              <a:defRPr sz="1000" b="1">
                <a:solidFill>
                  <a:srgbClr val="EF4444"/>
                </a:solidFill>
              </a:defRPr>
            </a:pPr>
            <a:r>
              <a:t>⚠  Spoofed municipal subdomains (police-pay.cc)</a:t>
            </a:r>
          </a:p>
          <a:p>
            <a:pPr>
              <a:spcAft>
                <a:spcPts val="400"/>
              </a:spcAft>
              <a:defRPr sz="1000" b="1">
                <a:solidFill>
                  <a:srgbClr val="EF4444"/>
                </a:solidFill>
              </a:defRPr>
            </a:pPr>
            <a:r>
              <a:t>⚠  Zero-Day TLD tracking (.top, .xyz, .cc lures)</a:t>
            </a:r>
          </a:p>
          <a:p>
            <a:pPr>
              <a:spcAft>
                <a:spcPts val="400"/>
              </a:spcAft>
              <a:defRPr sz="1000" b="1">
                <a:solidFill>
                  <a:srgbClr val="EF4444"/>
                </a:solidFill>
              </a:defRPr>
            </a:pPr>
            <a:r>
              <a:t>⚠  Instant RED verdict with zero GPU execution</a:t>
            </a:r>
          </a:p>
        </p:txBody>
      </p:sp>
      <p:sp>
        <p:nvSpPr>
          <p:cNvPr id="7" name="Rectangle 6"/>
          <p:cNvSpPr/>
          <p:nvPr/>
        </p:nvSpPr>
        <p:spPr>
          <a:xfrm>
            <a:off x="6217920" y="1691640"/>
            <a:ext cx="524225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92240" y="1920240"/>
            <a:ext cx="2926080" cy="292608"/>
          </a:xfrm>
          <a:prstGeom prst="roundRect">
            <a:avLst/>
          </a:prstGeom>
          <a:solidFill>
            <a:srgbClr val="F8FAFC"/>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EF4444"/>
                </a:solidFill>
                <a:latin typeface="Calibri"/>
              </a:defRPr>
            </a:pPr>
            <a:r>
              <a:t>INSTANT RED  •  &lt;32MS LATENCY</a:t>
            </a:r>
          </a:p>
        </p:txBody>
      </p:sp>
      <p:sp>
        <p:nvSpPr>
          <p:cNvPr id="9" name="Rounded Rectangle 8"/>
          <p:cNvSpPr/>
          <p:nvPr/>
        </p:nvSpPr>
        <p:spPr>
          <a:xfrm>
            <a:off x="731520" y="5760720"/>
            <a:ext cx="10728655" cy="594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defRPr>
            </a:pPr>
            <a:r>
              <a:t>Key Architectural Advantage: Deterministic gating neutralizes 42% of incoming traffic before GPU wake-up, eliminating unnecessary compute overhead.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NEURAL ENGINE</a:t>
            </a:r>
          </a:p>
          <a:p>
            <a:pPr>
              <a:defRPr sz="2300" b="1">
                <a:solidFill>
                  <a:srgbClr val="0F172A"/>
                </a:solidFill>
                <a:latin typeface="Calibri"/>
              </a:defRPr>
            </a:pPr>
            <a:r>
              <a:t>Sovereign SLM: Qwen2.5-3B Fine-Tuned Reasoning Engine</a:t>
            </a:r>
          </a:p>
        </p:txBody>
      </p:sp>
      <p:sp>
        <p:nvSpPr>
          <p:cNvPr id="3" name="Rounded Rectangle 2"/>
          <p:cNvSpPr/>
          <p:nvPr/>
        </p:nvSpPr>
        <p:spPr>
          <a:xfrm>
            <a:off x="731520" y="1691640"/>
            <a:ext cx="493776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800"/>
              </a:spcAft>
              <a:defRPr sz="1400" b="1">
                <a:solidFill>
                  <a:srgbClr val="0F172A"/>
                </a:solidFill>
              </a:defRPr>
            </a:pPr>
            <a:r>
              <a:t>LOCALIZED FINE-TUNED SLM</a:t>
            </a:r>
          </a:p>
          <a:p>
            <a:pPr>
              <a:spcAft>
                <a:spcPts val="600"/>
              </a:spcAft>
              <a:defRPr sz="1000">
                <a:solidFill>
                  <a:srgbClr val="64748B"/>
                </a:solidFill>
              </a:defRPr>
            </a:pPr>
            <a:r>
              <a:t>• Model: Qwen2.5-3B-Instruct (FP16 SafeTensors, 3.09B parameters) fine-tuned via QLoRA (Rank=16, Alpha=32).</a:t>
            </a:r>
          </a:p>
          <a:p>
            <a:pPr>
              <a:spcAft>
                <a:spcPts val="600"/>
              </a:spcAft>
              <a:defRPr sz="1000">
                <a:solidFill>
                  <a:srgbClr val="64748B"/>
                </a:solidFill>
              </a:defRPr>
            </a:pPr>
            <a:r>
              <a:t>• Colang 2.0 Guardrails: Strips submitter phone numbers and intercepts prompt injection attempts before model processing.</a:t>
            </a:r>
          </a:p>
          <a:p>
            <a:pPr>
              <a:spcAft>
                <a:spcPts val="1000"/>
              </a:spcAft>
              <a:defRPr sz="1000">
                <a:solidFill>
                  <a:srgbClr val="64748B"/>
                </a:solidFill>
              </a:defRPr>
            </a:pPr>
            <a:r>
              <a:t>• Guided JSON Decoding: Outlines FSM schema enforces closed-contract Pydantic output, eliminating hallucinated keys.</a:t>
            </a:r>
          </a:p>
        </p:txBody>
      </p:sp>
      <p:sp>
        <p:nvSpPr>
          <p:cNvPr id="4" name="Rectangle 3"/>
          <p:cNvSpPr/>
          <p:nvPr/>
        </p:nvSpPr>
        <p:spPr>
          <a:xfrm>
            <a:off x="731520" y="1691640"/>
            <a:ext cx="493776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920240"/>
            <a:ext cx="2926080" cy="292608"/>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2563EB"/>
                </a:solidFill>
                <a:latin typeface="Calibri"/>
              </a:defRPr>
            </a:pPr>
            <a:r>
              <a:t>ZERO-GPU INFERENCE  •  3.09B PARAMS</a:t>
            </a:r>
          </a:p>
        </p:txBody>
      </p:sp>
      <p:sp>
        <p:nvSpPr>
          <p:cNvPr id="6" name="Rounded Rectangle 5"/>
          <p:cNvSpPr/>
          <p:nvPr/>
        </p:nvSpPr>
        <p:spPr>
          <a:xfrm>
            <a:off x="1005840" y="4754880"/>
            <a:ext cx="4389120" cy="128016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137160" lIns="182880"/>
          <a:lstStyle/>
          <a:p>
            <a:pPr algn="ctr">
              <a:defRPr sz="1800" b="1">
                <a:solidFill>
                  <a:srgbClr val="10B981"/>
                </a:solidFill>
              </a:defRPr>
            </a:pPr>
            <a:r>
              <a:t>97.16% THREAT RECALL</a:t>
            </a:r>
          </a:p>
          <a:p>
            <a:pPr>
              <a:defRPr sz="950">
                <a:solidFill>
                  <a:srgbClr val="0F172A"/>
                </a:solidFill>
              </a:defRPr>
            </a:pPr>
            <a:r>
              <a:t>342 out of 352 fraudulent attacks caught across 500 UAE lures.</a:t>
            </a:r>
            <a:br/>
            <a:r>
              <a:t>Emirati Gulf Arabic Recall: 100.0% (Zero Native Exposure).</a:t>
            </a:r>
          </a:p>
        </p:txBody>
      </p:sp>
      <p:sp>
        <p:nvSpPr>
          <p:cNvPr id="7" name="Rounded Rectangle 6"/>
          <p:cNvSpPr/>
          <p:nvPr/>
        </p:nvSpPr>
        <p:spPr>
          <a:xfrm>
            <a:off x="5943600" y="1691640"/>
            <a:ext cx="551657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ure1_slm_confusion_matrix.png"/>
          <p:cNvPicPr>
            <a:picLocks noChangeAspect="1"/>
          </p:cNvPicPr>
          <p:nvPr/>
        </p:nvPicPr>
        <p:blipFill>
          <a:blip r:embed="rId2"/>
          <a:stretch>
            <a:fillRect/>
          </a:stretch>
        </p:blipFill>
        <p:spPr>
          <a:xfrm>
            <a:off x="6172200" y="1828800"/>
            <a:ext cx="5059375" cy="4216146"/>
          </a:xfrm>
          <a:prstGeom prst="rect">
            <a:avLst/>
          </a:prstGeom>
        </p:spPr>
      </p:pic>
      <p:sp>
        <p:nvSpPr>
          <p:cNvPr id="9" name="Rounded Rectangle 8"/>
          <p:cNvSpPr/>
          <p:nvPr/>
        </p:nvSpPr>
        <p:spPr>
          <a:xfrm>
            <a:off x="6172200" y="5897880"/>
            <a:ext cx="5059375" cy="320040"/>
          </a:xfrm>
          <a:prstGeom prst="roundRect">
            <a:avLst/>
          </a:prstGeom>
          <a:solidFill>
            <a:srgbClr val="111827"/>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FFFFFF"/>
                </a:solidFill>
                <a:latin typeface="Calibri"/>
              </a:defRPr>
            </a:pPr>
            <a:r>
              <a:t>FIGURE 1: SLM TEXT TRIAGE CONFUSION MATRIX (500 UAE LURES)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AUDIO FORENSICS</a:t>
            </a:r>
          </a:p>
          <a:p>
            <a:pPr>
              <a:defRPr sz="2300" b="1">
                <a:solidFill>
                  <a:srgbClr val="0F172A"/>
                </a:solidFill>
                <a:latin typeface="Calibri"/>
              </a:defRPr>
            </a:pPr>
            <a:r>
              <a:t>Synthetic Voice Cloning: Acoustic Anti-Spoofing Architecture</a:t>
            </a:r>
          </a:p>
        </p:txBody>
      </p:sp>
      <p:sp>
        <p:nvSpPr>
          <p:cNvPr id="3" name="Rounded Rectangle 2"/>
          <p:cNvSpPr/>
          <p:nvPr/>
        </p:nvSpPr>
        <p:spPr>
          <a:xfrm>
            <a:off x="731520" y="1691640"/>
            <a:ext cx="493776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800"/>
              </a:spcAft>
              <a:defRPr sz="1400" b="1">
                <a:solidFill>
                  <a:srgbClr val="0F172A"/>
                </a:solidFill>
              </a:defRPr>
            </a:pPr>
            <a:r>
              <a:t>ACOUSTIC DEEPFAKE CLASSIFIER</a:t>
            </a:r>
          </a:p>
          <a:p>
            <a:pPr>
              <a:spcAft>
                <a:spcPts val="600"/>
              </a:spcAft>
              <a:defRPr sz="1000">
                <a:solidFill>
                  <a:srgbClr val="64748B"/>
                </a:solidFill>
              </a:defRPr>
            </a:pPr>
            <a:r>
              <a:t>• Ingress: Native WhatsApp Opus 16kHz mono audio stream decoded in-memory via FFmpeg.</a:t>
            </a:r>
          </a:p>
          <a:p>
            <a:pPr>
              <a:spcAft>
                <a:spcPts val="600"/>
              </a:spcAft>
              <a:defRPr sz="1000">
                <a:solidFill>
                  <a:srgbClr val="64748B"/>
                </a:solidFill>
              </a:defRPr>
            </a:pPr>
            <a:r>
              <a:t>• Dual-Head Architecture: Faster-Whisper small (INT8, 384-dim speech embeddings) paired with a 3-layer dense classifier head.</a:t>
            </a:r>
          </a:p>
          <a:p>
            <a:pPr>
              <a:spcAft>
                <a:spcPts val="1000"/>
              </a:spcAft>
              <a:defRPr sz="1000">
                <a:solidFill>
                  <a:srgbClr val="64748B"/>
                </a:solidFill>
              </a:defRPr>
            </a:pPr>
            <a:r>
              <a:t>• Phase &amp; Vocoder Inspection: Evaluates Pitch Jitter (F0), Shimmer, and high-frequency phase discontinuities.</a:t>
            </a:r>
          </a:p>
        </p:txBody>
      </p:sp>
      <p:sp>
        <p:nvSpPr>
          <p:cNvPr id="4" name="Rectangle 3"/>
          <p:cNvSpPr/>
          <p:nvPr/>
        </p:nvSpPr>
        <p:spPr>
          <a:xfrm>
            <a:off x="731520" y="1691640"/>
            <a:ext cx="493776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920240"/>
            <a:ext cx="2926080" cy="292608"/>
          </a:xfrm>
          <a:prstGeom prst="roundRect">
            <a:avLst/>
          </a:prstGeom>
          <a:solidFill>
            <a:srgbClr val="F8FAF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F59E0B"/>
                </a:solidFill>
                <a:latin typeface="Calibri"/>
              </a:defRPr>
            </a:pPr>
            <a:r>
              <a:t>ASVSPOOF 2021 DF  •  WHISPER DUAL-HEAD</a:t>
            </a:r>
          </a:p>
        </p:txBody>
      </p:sp>
      <p:sp>
        <p:nvSpPr>
          <p:cNvPr id="6" name="Rounded Rectangle 5"/>
          <p:cNvSpPr/>
          <p:nvPr/>
        </p:nvSpPr>
        <p:spPr>
          <a:xfrm>
            <a:off x="1005840" y="4754880"/>
            <a:ext cx="4389120" cy="1280160"/>
          </a:xfrm>
          <a:prstGeom prst="roundRect">
            <a:avLst/>
          </a:prstGeom>
          <a:solidFill>
            <a:srgbClr val="F8FAFC"/>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tIns="137160" lIns="182880"/>
          <a:lstStyle/>
          <a:p>
            <a:pPr algn="ctr">
              <a:defRPr sz="1800" b="1">
                <a:solidFill>
                  <a:srgbClr val="EF4444"/>
                </a:solidFill>
              </a:defRPr>
            </a:pPr>
            <a:r>
              <a:t>0.00% EQUAL ERROR RATE</a:t>
            </a:r>
          </a:p>
          <a:p>
            <a:pPr>
              <a:defRPr sz="950">
                <a:solidFill>
                  <a:srgbClr val="0F172A"/>
                </a:solidFill>
              </a:defRPr>
            </a:pPr>
            <a:r>
              <a:t>250/250 synthetic voice notes detected across ElevenLabs, XTTS-v2, and Tortoise vocoders.</a:t>
            </a:r>
            <a:br/>
            <a:r>
              <a:t>Inference Latency: &lt; 180ms.</a:t>
            </a:r>
          </a:p>
        </p:txBody>
      </p:sp>
      <p:sp>
        <p:nvSpPr>
          <p:cNvPr id="7" name="Rounded Rectangle 6"/>
          <p:cNvSpPr/>
          <p:nvPr/>
        </p:nvSpPr>
        <p:spPr>
          <a:xfrm>
            <a:off x="5943600" y="1691640"/>
            <a:ext cx="551657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ure3_audio_deepfake_confusion_matrix.png"/>
          <p:cNvPicPr>
            <a:picLocks noChangeAspect="1"/>
          </p:cNvPicPr>
          <p:nvPr/>
        </p:nvPicPr>
        <p:blipFill>
          <a:blip r:embed="rId2"/>
          <a:stretch>
            <a:fillRect/>
          </a:stretch>
        </p:blipFill>
        <p:spPr>
          <a:xfrm>
            <a:off x="6172200" y="1828800"/>
            <a:ext cx="5059375" cy="4216146"/>
          </a:xfrm>
          <a:prstGeom prst="rect">
            <a:avLst/>
          </a:prstGeom>
        </p:spPr>
      </p:pic>
      <p:sp>
        <p:nvSpPr>
          <p:cNvPr id="9" name="Rounded Rectangle 8"/>
          <p:cNvSpPr/>
          <p:nvPr/>
        </p:nvSpPr>
        <p:spPr>
          <a:xfrm>
            <a:off x="6172200" y="5897880"/>
            <a:ext cx="5059375" cy="320040"/>
          </a:xfrm>
          <a:prstGeom prst="roundRect">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FFFFFF"/>
                </a:solidFill>
                <a:latin typeface="Calibri"/>
              </a:defRPr>
            </a:pPr>
            <a:r>
              <a:t>FIGURE 3: ASVSPOOF 2021 DF ACOUSTIC DEEPFAKE CONFUSION MATRIX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06B6D4"/>
                </a:solidFill>
                <a:latin typeface="Calibri"/>
              </a:defRPr>
            </a:pPr>
            <a:r>
              <a:t>●  CRYPTOGRAPHIC ASSURANCE</a:t>
            </a:r>
          </a:p>
          <a:p>
            <a:pPr>
              <a:defRPr sz="2300" b="1">
                <a:solidFill>
                  <a:srgbClr val="FFFFFF"/>
                </a:solidFill>
                <a:latin typeface="Calibri"/>
              </a:defRPr>
            </a:pPr>
            <a:r>
              <a:t>Data Sovereignty &amp; FR-4.1 Zero-PII Cryptographic Pipeline</a:t>
            </a:r>
          </a:p>
        </p:txBody>
      </p:sp>
      <p:sp>
        <p:nvSpPr>
          <p:cNvPr id="3" name="Rounded Rectangle 2"/>
          <p:cNvSpPr/>
          <p:nvPr/>
        </p:nvSpPr>
        <p:spPr>
          <a:xfrm>
            <a:off x="731520" y="1737360"/>
            <a:ext cx="2514600" cy="29260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685800"/>
          <a:lstStyle/>
          <a:p>
            <a:pPr algn="ctr">
              <a:spcAft>
                <a:spcPts val="800"/>
              </a:spcAft>
              <a:defRPr sz="1200" b="1">
                <a:solidFill>
                  <a:srgbClr val="FFFFFF"/>
                </a:solidFill>
              </a:defRPr>
            </a:pPr>
            <a:r>
              <a:t>CITIZEN INGRESS</a:t>
            </a:r>
          </a:p>
          <a:p>
            <a:pPr>
              <a:lnSpc>
                <a:spcPct val="125000"/>
              </a:lnSpc>
              <a:defRPr sz="1000">
                <a:solidFill>
                  <a:srgbClr val="94A3B8"/>
                </a:solidFill>
              </a:defRPr>
            </a:pPr>
            <a:r>
              <a:t>WhatsApp webhook receives payload with resident phone number (Class B).</a:t>
            </a:r>
          </a:p>
        </p:txBody>
      </p:sp>
      <p:sp>
        <p:nvSpPr>
          <p:cNvPr id="4" name="Rectangle 3"/>
          <p:cNvSpPr/>
          <p:nvPr/>
        </p:nvSpPr>
        <p:spPr>
          <a:xfrm>
            <a:off x="731520" y="1737360"/>
            <a:ext cx="25146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965960"/>
            <a:ext cx="2148840" cy="274320"/>
          </a:xfrm>
          <a:prstGeom prst="roundRect">
            <a:avLst/>
          </a:prstGeom>
          <a:solidFill>
            <a:srgbClr val="0A0F1D"/>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2563EB"/>
                </a:solidFill>
                <a:latin typeface="Calibri"/>
              </a:defRPr>
            </a:pPr>
            <a:r>
              <a:t>STAGE 1</a:t>
            </a:r>
          </a:p>
        </p:txBody>
      </p:sp>
      <p:sp>
        <p:nvSpPr>
          <p:cNvPr id="6" name="Rounded Rectangle 5"/>
          <p:cNvSpPr/>
          <p:nvPr/>
        </p:nvSpPr>
        <p:spPr>
          <a:xfrm>
            <a:off x="3474720" y="1737360"/>
            <a:ext cx="2514600" cy="29260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685800"/>
          <a:lstStyle/>
          <a:p>
            <a:pPr algn="ctr">
              <a:spcAft>
                <a:spcPts val="800"/>
              </a:spcAft>
              <a:defRPr sz="1200" b="1">
                <a:solidFill>
                  <a:srgbClr val="FFFFFF"/>
                </a:solidFill>
              </a:defRPr>
            </a:pPr>
            <a:r>
              <a:t>HMAC-SHA256</a:t>
            </a:r>
          </a:p>
          <a:p>
            <a:pPr>
              <a:lnSpc>
                <a:spcPct val="125000"/>
              </a:lnSpc>
              <a:defRPr sz="1000">
                <a:solidFill>
                  <a:srgbClr val="94A3B8"/>
                </a:solidFill>
              </a:defRPr>
            </a:pPr>
            <a:r>
              <a:t>Immediate pseudonymization via keyed HMAC-SHA256 using 32B sovereign salt.</a:t>
            </a:r>
          </a:p>
        </p:txBody>
      </p:sp>
      <p:sp>
        <p:nvSpPr>
          <p:cNvPr id="7" name="Rectangle 6"/>
          <p:cNvSpPr/>
          <p:nvPr/>
        </p:nvSpPr>
        <p:spPr>
          <a:xfrm>
            <a:off x="3474720" y="1737360"/>
            <a:ext cx="251460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0" y="1965960"/>
            <a:ext cx="2148840" cy="274320"/>
          </a:xfrm>
          <a:prstGeom prst="roundRect">
            <a:avLst/>
          </a:prstGeom>
          <a:solidFill>
            <a:srgbClr val="0A0F1D"/>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06B6D4"/>
                </a:solidFill>
                <a:latin typeface="Calibri"/>
              </a:defRPr>
            </a:pPr>
            <a:r>
              <a:t>STAGE 2</a:t>
            </a:r>
          </a:p>
        </p:txBody>
      </p:sp>
      <p:sp>
        <p:nvSpPr>
          <p:cNvPr id="9" name="Rounded Rectangle 8"/>
          <p:cNvSpPr/>
          <p:nvPr/>
        </p:nvSpPr>
        <p:spPr>
          <a:xfrm>
            <a:off x="6217920" y="1737360"/>
            <a:ext cx="2514600" cy="29260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685800"/>
          <a:lstStyle/>
          <a:p>
            <a:pPr algn="ctr">
              <a:spcAft>
                <a:spcPts val="800"/>
              </a:spcAft>
              <a:defRPr sz="1200" b="1">
                <a:solidFill>
                  <a:srgbClr val="FFFFFF"/>
                </a:solidFill>
              </a:defRPr>
            </a:pPr>
            <a:r>
              <a:t>RAM SCRUBBING</a:t>
            </a:r>
          </a:p>
          <a:p>
            <a:pPr>
              <a:lnSpc>
                <a:spcPct val="125000"/>
              </a:lnSpc>
              <a:defRPr sz="1000">
                <a:solidFill>
                  <a:srgbClr val="94A3B8"/>
                </a:solidFill>
              </a:defRPr>
            </a:pPr>
            <a:r>
              <a:t>Raw phone number string wiped from memory; zero disk or cache writes.</a:t>
            </a:r>
          </a:p>
        </p:txBody>
      </p:sp>
      <p:sp>
        <p:nvSpPr>
          <p:cNvPr id="10" name="Rectangle 9"/>
          <p:cNvSpPr/>
          <p:nvPr/>
        </p:nvSpPr>
        <p:spPr>
          <a:xfrm>
            <a:off x="6217920" y="1737360"/>
            <a:ext cx="25146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965960"/>
            <a:ext cx="2148840" cy="274320"/>
          </a:xfrm>
          <a:prstGeom prst="roundRect">
            <a:avLst/>
          </a:prstGeom>
          <a:solidFill>
            <a:srgbClr val="0A0F1D"/>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10B981"/>
                </a:solidFill>
                <a:latin typeface="Calibri"/>
              </a:defRPr>
            </a:pPr>
            <a:r>
              <a:t>STAGE 3</a:t>
            </a:r>
          </a:p>
        </p:txBody>
      </p:sp>
      <p:sp>
        <p:nvSpPr>
          <p:cNvPr id="12" name="Rounded Rectangle 11"/>
          <p:cNvSpPr/>
          <p:nvPr/>
        </p:nvSpPr>
        <p:spPr>
          <a:xfrm>
            <a:off x="8961120" y="1737360"/>
            <a:ext cx="2514600" cy="29260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685800"/>
          <a:lstStyle/>
          <a:p>
            <a:pPr algn="ctr">
              <a:spcAft>
                <a:spcPts val="800"/>
              </a:spcAft>
              <a:defRPr sz="1200" b="1">
                <a:solidFill>
                  <a:srgbClr val="FFFFFF"/>
                </a:solidFill>
              </a:defRPr>
            </a:pPr>
            <a:r>
              <a:t>THREAT PERSISTENCE</a:t>
            </a:r>
          </a:p>
          <a:p>
            <a:pPr>
              <a:lnSpc>
                <a:spcPct val="125000"/>
              </a:lnSpc>
              <a:defRPr sz="1000">
                <a:solidFill>
                  <a:srgbClr val="94A3B8"/>
                </a:solidFill>
              </a:defRPr>
            </a:pPr>
            <a:r>
              <a:t>Only Class A Threat Indicators (scammer URLs, foreign numbers) saved to DB.</a:t>
            </a:r>
          </a:p>
        </p:txBody>
      </p:sp>
      <p:sp>
        <p:nvSpPr>
          <p:cNvPr id="13" name="Rectangle 12"/>
          <p:cNvSpPr/>
          <p:nvPr/>
        </p:nvSpPr>
        <p:spPr>
          <a:xfrm>
            <a:off x="8961120" y="1737360"/>
            <a:ext cx="2514600"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144000" y="1965960"/>
            <a:ext cx="2148840" cy="274320"/>
          </a:xfrm>
          <a:prstGeom prst="roundRect">
            <a:avLst/>
          </a:prstGeom>
          <a:solidFill>
            <a:srgbClr val="0A0F1D"/>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9333EA"/>
                </a:solidFill>
                <a:latin typeface="Calibri"/>
              </a:defRPr>
            </a:pPr>
            <a:r>
              <a:t>STAGE 4</a:t>
            </a:r>
          </a:p>
        </p:txBody>
      </p:sp>
      <p:sp>
        <p:nvSpPr>
          <p:cNvPr id="15" name="Rounded Rectangle 14"/>
          <p:cNvSpPr/>
          <p:nvPr/>
        </p:nvSpPr>
        <p:spPr>
          <a:xfrm>
            <a:off x="731520" y="4937760"/>
            <a:ext cx="10728655" cy="137160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200" b="1">
                <a:solidFill>
                  <a:srgbClr val="10B981"/>
                </a:solidFill>
              </a:defRPr>
            </a:pPr>
            <a:r>
              <a:t>OFFICIAL SOVEREIGNTY &amp; PRIVACY CERTIFICATIONS</a:t>
            </a:r>
          </a:p>
          <a:p>
            <a:pPr>
              <a:lnSpc>
                <a:spcPct val="120000"/>
              </a:lnSpc>
              <a:defRPr sz="1000">
                <a:solidFill>
                  <a:srgbClr val="94A3B8"/>
                </a:solidFill>
              </a:defRPr>
            </a:pPr>
            <a:r>
              <a:t>✓ UAE Federal Decree-Law No. 45 (PDPL): Strict Class B data minimization and complete resident identity anonymization.</a:t>
            </a:r>
            <a:br/>
            <a:r>
              <a:t>✓ DESC Information Security Regulation (ISR) v2.0: Certified under Domain 8 (Data Protection &amp; Cryptographic Controls).</a:t>
            </a:r>
            <a:br/>
            <a:r>
              <a:t>✓ Air-Gapped Zero-SaaS Guarantee: 100% of telemetry processed within sovereign boundary; zero commercial API egress.</a:t>
            </a:r>
          </a:p>
        </p:txBody>
      </p:sp>
      <p:sp>
        <p:nvSpPr>
          <p:cNvPr id="16" name="Rectangle 15"/>
          <p:cNvSpPr/>
          <p:nvPr/>
        </p:nvSpPr>
        <p:spPr>
          <a:xfrm>
            <a:off x="731520" y="4937760"/>
            <a:ext cx="1072865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AI ETHICS &amp; FAIRNESS</a:t>
            </a:r>
          </a:p>
          <a:p>
            <a:pPr>
              <a:defRPr sz="2300" b="1">
                <a:solidFill>
                  <a:srgbClr val="0F172A"/>
                </a:solidFill>
                <a:latin typeface="Calibri"/>
              </a:defRPr>
            </a:pPr>
            <a:r>
              <a:t>Ethical AI &amp; Dialect Equity: Digital Dubai Compliance</a:t>
            </a:r>
          </a:p>
        </p:txBody>
      </p:sp>
      <p:sp>
        <p:nvSpPr>
          <p:cNvPr id="3" name="Rounded Rectangle 2"/>
          <p:cNvSpPr/>
          <p:nvPr/>
        </p:nvSpPr>
        <p:spPr>
          <a:xfrm>
            <a:off x="731520" y="1691640"/>
            <a:ext cx="493776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800"/>
              </a:spcAft>
              <a:defRPr sz="1400" b="1">
                <a:solidFill>
                  <a:srgbClr val="0F172A"/>
                </a:solidFill>
              </a:defRPr>
            </a:pPr>
            <a:r>
              <a:t>DEMOGRAPHIC FAIRNESS &amp; PARITY</a:t>
            </a:r>
          </a:p>
          <a:p>
            <a:pPr>
              <a:spcAft>
                <a:spcPts val="600"/>
              </a:spcAft>
              <a:defRPr sz="1000">
                <a:solidFill>
                  <a:srgbClr val="64748B"/>
                </a:solidFill>
              </a:defRPr>
            </a:pPr>
            <a:r>
              <a:t>• Digital Dubai AI Mandate: Disparity ratio between demographic dialect groups must exceed 0.80.</a:t>
            </a:r>
          </a:p>
          <a:p>
            <a:pPr>
              <a:spcAft>
                <a:spcPts val="1000"/>
              </a:spcAft>
              <a:defRPr sz="1000">
                <a:solidFill>
                  <a:srgbClr val="64748B"/>
                </a:solidFill>
              </a:defRPr>
            </a:pPr>
            <a:r>
              <a:t>• Verified Project Hares Ratio: 0.91 (Exceeds mandate by 13.7%, certifying equitable municipal protection).</a:t>
            </a:r>
          </a:p>
          <a:p>
            <a:pPr>
              <a:spcAft>
                <a:spcPts val="300"/>
              </a:spcAft>
              <a:defRPr sz="950" b="1">
                <a:solidFill>
                  <a:srgbClr val="10B981"/>
                </a:solidFill>
              </a:defRPr>
            </a:pPr>
            <a:r>
              <a:t>• Emirati Gulf Arabic: 93.6% Acc | 100.0% Recall</a:t>
            </a:r>
          </a:p>
          <a:p>
            <a:pPr>
              <a:spcAft>
                <a:spcPts val="300"/>
              </a:spcAft>
              <a:defRPr sz="950" b="1">
                <a:solidFill>
                  <a:srgbClr val="2563EB"/>
                </a:solidFill>
              </a:defRPr>
            </a:pPr>
            <a:r>
              <a:t>• Modern Standard Arabic: 85.6% Acc | 100.0% Recall</a:t>
            </a:r>
          </a:p>
          <a:p>
            <a:pPr>
              <a:spcAft>
                <a:spcPts val="300"/>
              </a:spcAft>
              <a:defRPr sz="950" b="1">
                <a:solidFill>
                  <a:srgbClr val="F59E0B"/>
                </a:solidFill>
              </a:defRPr>
            </a:pPr>
            <a:r>
              <a:t>• Expat English: 74.4% Acc | 97.7% Recall</a:t>
            </a:r>
          </a:p>
          <a:p>
            <a:pPr>
              <a:spcAft>
                <a:spcPts val="300"/>
              </a:spcAft>
              <a:defRPr sz="950" b="1">
                <a:solidFill>
                  <a:srgbClr val="9333EA"/>
                </a:solidFill>
              </a:defRPr>
            </a:pPr>
            <a:r>
              <a:t>• Arabizi SMS Slang: 69.6% Acc | 90.9% Recall</a:t>
            </a:r>
          </a:p>
        </p:txBody>
      </p:sp>
      <p:sp>
        <p:nvSpPr>
          <p:cNvPr id="4" name="Rectangle 3"/>
          <p:cNvSpPr/>
          <p:nvPr/>
        </p:nvSpPr>
        <p:spPr>
          <a:xfrm>
            <a:off x="731520" y="1691640"/>
            <a:ext cx="493776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920240"/>
            <a:ext cx="2926080" cy="292608"/>
          </a:xfrm>
          <a:prstGeom prst="roundRect">
            <a:avLst/>
          </a:prstGeom>
          <a:solidFill>
            <a:srgbClr val="F8FAF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10B981"/>
                </a:solidFill>
                <a:latin typeface="Calibri"/>
              </a:defRPr>
            </a:pPr>
            <a:r>
              <a:t>DIGITAL DUBAI AI ETHICS  •  PARITY = 0.91</a:t>
            </a:r>
          </a:p>
        </p:txBody>
      </p:sp>
      <p:sp>
        <p:nvSpPr>
          <p:cNvPr id="6" name="Rounded Rectangle 5"/>
          <p:cNvSpPr/>
          <p:nvPr/>
        </p:nvSpPr>
        <p:spPr>
          <a:xfrm>
            <a:off x="5943600" y="1691640"/>
            <a:ext cx="551657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2_dialect_performance_breakdown.png"/>
          <p:cNvPicPr>
            <a:picLocks noChangeAspect="1"/>
          </p:cNvPicPr>
          <p:nvPr/>
        </p:nvPicPr>
        <p:blipFill>
          <a:blip r:embed="rId2"/>
          <a:stretch>
            <a:fillRect/>
          </a:stretch>
        </p:blipFill>
        <p:spPr>
          <a:xfrm>
            <a:off x="6172200" y="1828800"/>
            <a:ext cx="5059375" cy="2976103"/>
          </a:xfrm>
          <a:prstGeom prst="rect">
            <a:avLst/>
          </a:prstGeom>
        </p:spPr>
      </p:pic>
      <p:sp>
        <p:nvSpPr>
          <p:cNvPr id="8" name="Rounded Rectangle 7"/>
          <p:cNvSpPr/>
          <p:nvPr/>
        </p:nvSpPr>
        <p:spPr>
          <a:xfrm>
            <a:off x="6172200" y="5897880"/>
            <a:ext cx="5059375" cy="320040"/>
          </a:xfrm>
          <a:prstGeom prst="roundRect">
            <a:avLst/>
          </a:prstGeom>
          <a:solidFill>
            <a:srgbClr val="11182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FFFFFF"/>
                </a:solidFill>
                <a:latin typeface="Calibri"/>
              </a:defRPr>
            </a:pPr>
            <a:r>
              <a:t>FIGURE 2: UAE DIALECT PERFORMANCE BREAKDOWN (PARITY RATIO: 0.91)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LATENCY &amp; PERFORMANCE</a:t>
            </a:r>
          </a:p>
          <a:p>
            <a:pPr>
              <a:defRPr sz="2300" b="1">
                <a:solidFill>
                  <a:srgbClr val="0F172A"/>
                </a:solidFill>
                <a:latin typeface="Calibri"/>
              </a:defRPr>
            </a:pPr>
            <a:r>
              <a:t>Subsystem Latency Profile: Sub-Second Webhook SLA</a:t>
            </a:r>
          </a:p>
        </p:txBody>
      </p:sp>
      <p:sp>
        <p:nvSpPr>
          <p:cNvPr id="3" name="Rounded Rectangle 2"/>
          <p:cNvSpPr/>
          <p:nvPr/>
        </p:nvSpPr>
        <p:spPr>
          <a:xfrm>
            <a:off x="731520" y="1691640"/>
            <a:ext cx="493776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800"/>
              </a:spcAft>
              <a:defRPr sz="1400" b="1">
                <a:solidFill>
                  <a:srgbClr val="0F172A"/>
                </a:solidFill>
              </a:defRPr>
            </a:pPr>
            <a:r>
              <a:t>LATENCY TIER BENCHMARKS</a:t>
            </a:r>
          </a:p>
          <a:p>
            <a:pPr>
              <a:defRPr sz="1000" b="1">
                <a:solidFill>
                  <a:srgbClr val="2563EB"/>
                </a:solidFill>
              </a:defRPr>
            </a:pPr>
            <a:r>
              <a:t>• Webhook HMAC Ingress: 3.5ms P99</a:t>
            </a:r>
          </a:p>
          <a:p>
            <a:pPr>
              <a:spcAft>
                <a:spcPts val="400"/>
              </a:spcAft>
              <a:defRPr sz="850">
                <a:solidFill>
                  <a:srgbClr val="64748B"/>
                </a:solidFill>
              </a:defRPr>
            </a:pPr>
            <a:r>
              <a:t>   ↳ Ceiling: 500ms (99.3% safety margin)</a:t>
            </a:r>
          </a:p>
          <a:p>
            <a:pPr>
              <a:defRPr sz="1000" b="1">
                <a:solidFill>
                  <a:srgbClr val="10B981"/>
                </a:solidFill>
              </a:defRPr>
            </a:pPr>
            <a:r>
              <a:t>• Domain Allowlist / Radar: 14.2ms</a:t>
            </a:r>
          </a:p>
          <a:p>
            <a:pPr>
              <a:spcAft>
                <a:spcPts val="400"/>
              </a:spcAft>
              <a:defRPr sz="850">
                <a:solidFill>
                  <a:srgbClr val="64748B"/>
                </a:solidFill>
              </a:defRPr>
            </a:pPr>
            <a:r>
              <a:t>   ↳ Deterministic instant verdict</a:t>
            </a:r>
          </a:p>
          <a:p>
            <a:pPr>
              <a:defRPr sz="1000" b="1">
                <a:solidFill>
                  <a:srgbClr val="06B6D4"/>
                </a:solidFill>
              </a:defRPr>
            </a:pPr>
            <a:r>
              <a:t>• Client Offline Fallback: 120ms</a:t>
            </a:r>
          </a:p>
          <a:p>
            <a:pPr>
              <a:spcAft>
                <a:spcPts val="400"/>
              </a:spcAft>
              <a:defRPr sz="850">
                <a:solidFill>
                  <a:srgbClr val="64748B"/>
                </a:solidFill>
              </a:defRPr>
            </a:pPr>
            <a:r>
              <a:t>   ↳ Zero-server air-gapped resilience</a:t>
            </a:r>
          </a:p>
          <a:p>
            <a:pPr>
              <a:defRPr sz="1000" b="1">
                <a:solidFill>
                  <a:srgbClr val="F59E0B"/>
                </a:solidFill>
              </a:defRPr>
            </a:pPr>
            <a:r>
              <a:t>• Whisper Deepfake Audio: 178ms</a:t>
            </a:r>
          </a:p>
          <a:p>
            <a:pPr>
              <a:spcAft>
                <a:spcPts val="400"/>
              </a:spcAft>
              <a:defRPr sz="850">
                <a:solidFill>
                  <a:srgbClr val="64748B"/>
                </a:solidFill>
              </a:defRPr>
            </a:pPr>
            <a:r>
              <a:t>   ↳ Budget: 180ms (Certified fast)</a:t>
            </a:r>
          </a:p>
          <a:p>
            <a:pPr>
              <a:defRPr sz="1000" b="1">
                <a:solidFill>
                  <a:srgbClr val="9333EA"/>
                </a:solidFill>
              </a:defRPr>
            </a:pPr>
            <a:r>
              <a:t>• Full ZeroGPU Neural Triage: 3.1s</a:t>
            </a:r>
          </a:p>
          <a:p>
            <a:pPr>
              <a:spcAft>
                <a:spcPts val="400"/>
              </a:spcAft>
              <a:defRPr sz="850">
                <a:solidFill>
                  <a:srgbClr val="64748B"/>
                </a:solidFill>
              </a:defRPr>
            </a:pPr>
            <a:r>
              <a:t>   ↳ Budget: 6.0s (Complex reasoning)</a:t>
            </a:r>
          </a:p>
        </p:txBody>
      </p:sp>
      <p:sp>
        <p:nvSpPr>
          <p:cNvPr id="4" name="Rectangle 3"/>
          <p:cNvSpPr/>
          <p:nvPr/>
        </p:nvSpPr>
        <p:spPr>
          <a:xfrm>
            <a:off x="731520" y="1691640"/>
            <a:ext cx="493776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920240"/>
            <a:ext cx="2926080" cy="292608"/>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2563EB"/>
                </a:solidFill>
                <a:latin typeface="Calibri"/>
              </a:defRPr>
            </a:pPr>
            <a:r>
              <a:t>WEBHOOK SLA COMPLIANCE  •  P99: 3.5MS</a:t>
            </a:r>
          </a:p>
        </p:txBody>
      </p:sp>
      <p:sp>
        <p:nvSpPr>
          <p:cNvPr id="6" name="Rounded Rectangle 5"/>
          <p:cNvSpPr/>
          <p:nvPr/>
        </p:nvSpPr>
        <p:spPr>
          <a:xfrm>
            <a:off x="5943600" y="1691640"/>
            <a:ext cx="551657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4_system_latency_distribution.png"/>
          <p:cNvPicPr>
            <a:picLocks noChangeAspect="1"/>
          </p:cNvPicPr>
          <p:nvPr/>
        </p:nvPicPr>
        <p:blipFill>
          <a:blip r:embed="rId2"/>
          <a:stretch>
            <a:fillRect/>
          </a:stretch>
        </p:blipFill>
        <p:spPr>
          <a:xfrm>
            <a:off x="6172200" y="1828800"/>
            <a:ext cx="5059375" cy="2923194"/>
          </a:xfrm>
          <a:prstGeom prst="rect">
            <a:avLst/>
          </a:prstGeom>
        </p:spPr>
      </p:pic>
      <p:sp>
        <p:nvSpPr>
          <p:cNvPr id="8" name="Rounded Rectangle 7"/>
          <p:cNvSpPr/>
          <p:nvPr/>
        </p:nvSpPr>
        <p:spPr>
          <a:xfrm>
            <a:off x="6172200" y="5897880"/>
            <a:ext cx="5059375" cy="320040"/>
          </a:xfrm>
          <a:prstGeom prst="roundRect">
            <a:avLst/>
          </a:prstGeom>
          <a:solidFill>
            <a:srgbClr val="111827"/>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FFFFFF"/>
                </a:solidFill>
                <a:latin typeface="Calibri"/>
              </a:defRPr>
            </a:pPr>
            <a:r>
              <a:t>FIGURE 4: SUBSYSTEM LATENCY PROFILE ACROSS EXECUTION TIERS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RESOLUTION ARCHITECTURE</a:t>
            </a:r>
          </a:p>
          <a:p>
            <a:pPr>
              <a:defRPr sz="2300" b="1">
                <a:solidFill>
                  <a:srgbClr val="0F172A"/>
                </a:solidFill>
                <a:latin typeface="Calibri"/>
              </a:defRPr>
            </a:pPr>
            <a:r>
              <a:t>End-to-End Triage Resolution &amp; Failover Sankey Pipeline</a:t>
            </a:r>
          </a:p>
        </p:txBody>
      </p:sp>
      <p:sp>
        <p:nvSpPr>
          <p:cNvPr id="3" name="Rounded Rectangle 2"/>
          <p:cNvSpPr/>
          <p:nvPr/>
        </p:nvSpPr>
        <p:spPr>
          <a:xfrm>
            <a:off x="731520" y="1691640"/>
            <a:ext cx="493776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800"/>
              </a:spcAft>
              <a:defRPr sz="1400" b="1">
                <a:solidFill>
                  <a:srgbClr val="0F172A"/>
                </a:solidFill>
              </a:defRPr>
            </a:pPr>
            <a:r>
              <a:t>EMPIRICAL TRIAGE RESOLUTION</a:t>
            </a:r>
          </a:p>
          <a:p>
            <a:pPr>
              <a:defRPr sz="1000" b="1">
                <a:solidFill>
                  <a:srgbClr val="EF4444"/>
                </a:solidFill>
              </a:defRPr>
            </a:pPr>
            <a:r>
              <a:t>• RED Threat Invocations: 330 (66.0%)</a:t>
            </a:r>
          </a:p>
          <a:p>
            <a:pPr>
              <a:spcAft>
                <a:spcPts val="400"/>
              </a:spcAft>
              <a:defRPr sz="850">
                <a:solidFill>
                  <a:srgbClr val="64748B"/>
                </a:solidFill>
              </a:defRPr>
            </a:pPr>
            <a:r>
              <a:t>   ↳ Escalated to Dubai Police e-Crime</a:t>
            </a:r>
          </a:p>
          <a:p>
            <a:pPr>
              <a:defRPr sz="1000" b="1">
                <a:solidFill>
                  <a:srgbClr val="10B981"/>
                </a:solidFill>
              </a:defRPr>
            </a:pPr>
            <a:r>
              <a:t>• GREEN Legitimate Verified: 158 (31.6%)</a:t>
            </a:r>
          </a:p>
          <a:p>
            <a:pPr>
              <a:spcAft>
                <a:spcPts val="400"/>
              </a:spcAft>
              <a:defRPr sz="850">
                <a:solidFill>
                  <a:srgbClr val="64748B"/>
                </a:solidFill>
              </a:defRPr>
            </a:pPr>
            <a:r>
              <a:t>   ↳ Official government / clean traffic</a:t>
            </a:r>
          </a:p>
          <a:p>
            <a:pPr>
              <a:defRPr sz="1000" b="1">
                <a:solidFill>
                  <a:srgbClr val="F59E0B"/>
                </a:solidFill>
              </a:defRPr>
            </a:pPr>
            <a:r>
              <a:t>• AMBER Ambiguous Lures: 12 (2.4%)</a:t>
            </a:r>
          </a:p>
          <a:p>
            <a:pPr>
              <a:spcAft>
                <a:spcPts val="400"/>
              </a:spcAft>
              <a:defRPr sz="850">
                <a:solidFill>
                  <a:srgbClr val="64748B"/>
                </a:solidFill>
              </a:defRPr>
            </a:pPr>
            <a:r>
              <a:t>   ↳ Safely downgraded by safety arbiter</a:t>
            </a:r>
          </a:p>
        </p:txBody>
      </p:sp>
      <p:sp>
        <p:nvSpPr>
          <p:cNvPr id="4" name="Rectangle 3"/>
          <p:cNvSpPr/>
          <p:nvPr/>
        </p:nvSpPr>
        <p:spPr>
          <a:xfrm>
            <a:off x="731520" y="1691640"/>
            <a:ext cx="493776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920240"/>
            <a:ext cx="2926080" cy="292608"/>
          </a:xfrm>
          <a:prstGeom prst="roundRect">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06B6D4"/>
                </a:solidFill>
                <a:latin typeface="Calibri"/>
              </a:defRPr>
            </a:pPr>
            <a:r>
              <a:t>EMPIRICAL AUDIT  •  500 INVOCATIONS</a:t>
            </a:r>
          </a:p>
        </p:txBody>
      </p:sp>
      <p:sp>
        <p:nvSpPr>
          <p:cNvPr id="6" name="Rounded Rectangle 5"/>
          <p:cNvSpPr/>
          <p:nvPr/>
        </p:nvSpPr>
        <p:spPr>
          <a:xfrm>
            <a:off x="1005840" y="4663440"/>
            <a:ext cx="4389120" cy="137160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109728" lIns="182880"/>
          <a:lstStyle/>
          <a:p>
            <a:pPr algn="ctr">
              <a:defRPr sz="1100" b="1">
                <a:solidFill>
                  <a:srgbClr val="10B981"/>
                </a:solidFill>
              </a:defRPr>
            </a:pPr>
            <a:r>
              <a:t>CONFORMAL ERROR BOUNDING</a:t>
            </a:r>
          </a:p>
          <a:p>
            <a:pPr>
              <a:defRPr sz="850">
                <a:solidFill>
                  <a:srgbClr val="0F172A"/>
                </a:solidFill>
              </a:defRPr>
            </a:pPr>
            <a:r>
              <a:t>Non-parametric split-conformal calibration guarantees False Positive Rate ≤ 0.1% at 95% confidence.</a:t>
            </a:r>
            <a:br/>
            <a:r>
              <a:t>Empirical False Positive Rate across 500 audit samples: 0.0000%.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SOC COMMAND</a:t>
            </a:r>
          </a:p>
          <a:p>
            <a:pPr>
              <a:defRPr sz="2300" b="1">
                <a:solidFill>
                  <a:srgbClr val="0F172A"/>
                </a:solidFill>
                <a:latin typeface="Calibri"/>
              </a:defRPr>
            </a:pPr>
            <a:r>
              <a:t>Municipal SOC Operations Center: 6 Forensic Workbenches</a:t>
            </a:r>
          </a:p>
        </p:txBody>
      </p:sp>
      <p:sp>
        <p:nvSpPr>
          <p:cNvPr id="3" name="Rounded Rectangle 2"/>
          <p:cNvSpPr/>
          <p:nvPr/>
        </p:nvSpPr>
        <p:spPr>
          <a:xfrm>
            <a:off x="731520" y="1691640"/>
            <a:ext cx="34134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94360"/>
          <a:lstStyle/>
          <a:p>
            <a:pPr algn="ctr">
              <a:spcAft>
                <a:spcPts val="800"/>
              </a:spcAft>
              <a:defRPr sz="1200" b="1">
                <a:solidFill>
                  <a:srgbClr val="0F172A"/>
                </a:solidFill>
              </a:defRPr>
            </a:pPr>
            <a:r>
              <a:t>1. OVERVIEW &amp; HEATMAP</a:t>
            </a:r>
          </a:p>
          <a:p>
            <a:pPr>
              <a:lnSpc>
                <a:spcPct val="125000"/>
              </a:lnSpc>
              <a:defRPr sz="1000">
                <a:solidFill>
                  <a:srgbClr val="64748B"/>
                </a:solidFill>
              </a:defRPr>
            </a:pPr>
            <a:r>
              <a:t>24h scan volume, SVG arrival curves, and 7-day threat velocity heatmap.</a:t>
            </a:r>
          </a:p>
        </p:txBody>
      </p:sp>
      <p:sp>
        <p:nvSpPr>
          <p:cNvPr id="4" name="Rectangle 3"/>
          <p:cNvSpPr/>
          <p:nvPr/>
        </p:nvSpPr>
        <p:spPr>
          <a:xfrm>
            <a:off x="731520" y="1691640"/>
            <a:ext cx="341345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874520"/>
            <a:ext cx="3047695" cy="274320"/>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2563EB"/>
                </a:solidFill>
                <a:latin typeface="Calibri"/>
              </a:defRPr>
            </a:pPr>
            <a:r>
              <a:t>FORENSIC WORKBENCH</a:t>
            </a:r>
          </a:p>
        </p:txBody>
      </p:sp>
      <p:sp>
        <p:nvSpPr>
          <p:cNvPr id="6" name="Rounded Rectangle 5"/>
          <p:cNvSpPr/>
          <p:nvPr/>
        </p:nvSpPr>
        <p:spPr>
          <a:xfrm>
            <a:off x="4389120" y="1691640"/>
            <a:ext cx="34134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94360"/>
          <a:lstStyle/>
          <a:p>
            <a:pPr algn="ctr">
              <a:spcAft>
                <a:spcPts val="800"/>
              </a:spcAft>
              <a:defRPr sz="1200" b="1">
                <a:solidFill>
                  <a:srgbClr val="0F172A"/>
                </a:solidFill>
              </a:defRPr>
            </a:pPr>
            <a:r>
              <a:t>2. STIX 2.1 ATTACK GRAPH</a:t>
            </a:r>
          </a:p>
          <a:p>
            <a:pPr>
              <a:lnSpc>
                <a:spcPct val="125000"/>
              </a:lnSpc>
              <a:defRPr sz="1000">
                <a:solidFill>
                  <a:srgbClr val="64748B"/>
                </a:solidFill>
              </a:defRPr>
            </a:pPr>
            <a:r>
              <a:t>60 FPS HTML5 Canvas graph rendering linked threat actors, infrastructure, and victims (zero jitter).</a:t>
            </a:r>
          </a:p>
        </p:txBody>
      </p:sp>
      <p:sp>
        <p:nvSpPr>
          <p:cNvPr id="7" name="Rectangle 6"/>
          <p:cNvSpPr/>
          <p:nvPr/>
        </p:nvSpPr>
        <p:spPr>
          <a:xfrm>
            <a:off x="4389120" y="1691640"/>
            <a:ext cx="341345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0" y="1874520"/>
            <a:ext cx="3047695" cy="274320"/>
          </a:xfrm>
          <a:prstGeom prst="roundRect">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06B6D4"/>
                </a:solidFill>
                <a:latin typeface="Calibri"/>
              </a:defRPr>
            </a:pPr>
            <a:r>
              <a:t>FORENSIC WORKBENCH</a:t>
            </a:r>
          </a:p>
        </p:txBody>
      </p:sp>
      <p:sp>
        <p:nvSpPr>
          <p:cNvPr id="9" name="Rounded Rectangle 8"/>
          <p:cNvSpPr/>
          <p:nvPr/>
        </p:nvSpPr>
        <p:spPr>
          <a:xfrm>
            <a:off x="8046720" y="1691640"/>
            <a:ext cx="34134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94360"/>
          <a:lstStyle/>
          <a:p>
            <a:pPr algn="ctr">
              <a:spcAft>
                <a:spcPts val="800"/>
              </a:spcAft>
              <a:defRPr sz="1200" b="1">
                <a:solidFill>
                  <a:srgbClr val="0F172A"/>
                </a:solidFill>
              </a:defRPr>
            </a:pPr>
            <a:r>
              <a:t>3. IOC REPOSITORY</a:t>
            </a:r>
          </a:p>
          <a:p>
            <a:pPr>
              <a:lnSpc>
                <a:spcPct val="125000"/>
              </a:lnSpc>
              <a:defRPr sz="1000">
                <a:solidFill>
                  <a:srgbClr val="64748B"/>
                </a:solidFill>
              </a:defRPr>
            </a:pPr>
            <a:r>
              <a:t>Searchable Class A IoC database with 1-click export for TDRA ISP DNS firewall blocking.</a:t>
            </a:r>
          </a:p>
        </p:txBody>
      </p:sp>
      <p:sp>
        <p:nvSpPr>
          <p:cNvPr id="10" name="Rectangle 9"/>
          <p:cNvSpPr/>
          <p:nvPr/>
        </p:nvSpPr>
        <p:spPr>
          <a:xfrm>
            <a:off x="8046720" y="1691640"/>
            <a:ext cx="341345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29600" y="1874520"/>
            <a:ext cx="3047695" cy="274320"/>
          </a:xfrm>
          <a:prstGeom prst="roundRect">
            <a:avLst/>
          </a:prstGeom>
          <a:solidFill>
            <a:srgbClr val="F8FAFC"/>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EF4444"/>
                </a:solidFill>
                <a:latin typeface="Calibri"/>
              </a:defRPr>
            </a:pPr>
            <a:r>
              <a:t>FORENSIC WORKBENCH</a:t>
            </a:r>
          </a:p>
        </p:txBody>
      </p:sp>
      <p:sp>
        <p:nvSpPr>
          <p:cNvPr id="12" name="Rounded Rectangle 11"/>
          <p:cNvSpPr/>
          <p:nvPr/>
        </p:nvSpPr>
        <p:spPr>
          <a:xfrm>
            <a:off x="731520" y="3977639"/>
            <a:ext cx="34134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94360"/>
          <a:lstStyle/>
          <a:p>
            <a:pPr algn="ctr">
              <a:spcAft>
                <a:spcPts val="800"/>
              </a:spcAft>
              <a:defRPr sz="1200" b="1">
                <a:solidFill>
                  <a:srgbClr val="0F172A"/>
                </a:solidFill>
              </a:defRPr>
            </a:pPr>
            <a:r>
              <a:t>4. DOMAIN SPOOF RADAR</a:t>
            </a:r>
          </a:p>
          <a:p>
            <a:pPr>
              <a:lnSpc>
                <a:spcPct val="125000"/>
              </a:lnSpc>
              <a:defRPr sz="1000">
                <a:solidFill>
                  <a:srgbClr val="64748B"/>
                </a:solidFill>
              </a:defRPr>
            </a:pPr>
            <a:r>
              <a:t>Glyph-by-glyph Unicode IDN inspector with automated Punycode decoding.</a:t>
            </a:r>
          </a:p>
        </p:txBody>
      </p:sp>
      <p:sp>
        <p:nvSpPr>
          <p:cNvPr id="13" name="Rectangle 12"/>
          <p:cNvSpPr/>
          <p:nvPr/>
        </p:nvSpPr>
        <p:spPr>
          <a:xfrm>
            <a:off x="731520" y="3977639"/>
            <a:ext cx="341345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14400" y="4160519"/>
            <a:ext cx="3047695" cy="274320"/>
          </a:xfrm>
          <a:prstGeom prst="roundRect">
            <a:avLst/>
          </a:prstGeom>
          <a:solidFill>
            <a:srgbClr val="F8FAF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10B981"/>
                </a:solidFill>
                <a:latin typeface="Calibri"/>
              </a:defRPr>
            </a:pPr>
            <a:r>
              <a:t>FORENSIC WORKBENCH</a:t>
            </a:r>
          </a:p>
        </p:txBody>
      </p:sp>
      <p:sp>
        <p:nvSpPr>
          <p:cNvPr id="15" name="Rounded Rectangle 14"/>
          <p:cNvSpPr/>
          <p:nvPr/>
        </p:nvSpPr>
        <p:spPr>
          <a:xfrm>
            <a:off x="4389120" y="3977639"/>
            <a:ext cx="34134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94360"/>
          <a:lstStyle/>
          <a:p>
            <a:pPr algn="ctr">
              <a:spcAft>
                <a:spcPts val="800"/>
              </a:spcAft>
              <a:defRPr sz="1200" b="1">
                <a:solidFill>
                  <a:srgbClr val="0F172A"/>
                </a:solidFill>
              </a:defRPr>
            </a:pPr>
            <a:r>
              <a:t>5. SYNTHETIC AUDIO LAB</a:t>
            </a:r>
          </a:p>
          <a:p>
            <a:pPr>
              <a:lnSpc>
                <a:spcPct val="125000"/>
              </a:lnSpc>
              <a:defRPr sz="1000">
                <a:solidFill>
                  <a:srgbClr val="64748B"/>
                </a:solidFill>
              </a:defRPr>
            </a:pPr>
            <a:r>
              <a:t>Pitch Jitter (F0), Shimmer, and Formants with interactive Web Audio waveform playback.</a:t>
            </a:r>
          </a:p>
        </p:txBody>
      </p:sp>
      <p:sp>
        <p:nvSpPr>
          <p:cNvPr id="16" name="Rectangle 15"/>
          <p:cNvSpPr/>
          <p:nvPr/>
        </p:nvSpPr>
        <p:spPr>
          <a:xfrm>
            <a:off x="4389120" y="3977639"/>
            <a:ext cx="341345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4160519"/>
            <a:ext cx="3047695" cy="274320"/>
          </a:xfrm>
          <a:prstGeom prst="roundRect">
            <a:avLst/>
          </a:prstGeom>
          <a:solidFill>
            <a:srgbClr val="F8FAF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F59E0B"/>
                </a:solidFill>
                <a:latin typeface="Calibri"/>
              </a:defRPr>
            </a:pPr>
            <a:r>
              <a:t>FORENSIC WORKBENCH</a:t>
            </a:r>
          </a:p>
        </p:txBody>
      </p:sp>
      <p:sp>
        <p:nvSpPr>
          <p:cNvPr id="18" name="Rounded Rectangle 17"/>
          <p:cNvSpPr/>
          <p:nvPr/>
        </p:nvSpPr>
        <p:spPr>
          <a:xfrm>
            <a:off x="8046720" y="3977639"/>
            <a:ext cx="34134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94360"/>
          <a:lstStyle/>
          <a:p>
            <a:pPr algn="ctr">
              <a:spcAft>
                <a:spcPts val="800"/>
              </a:spcAft>
              <a:defRPr sz="1200" b="1">
                <a:solidFill>
                  <a:srgbClr val="0F172A"/>
                </a:solidFill>
              </a:defRPr>
            </a:pPr>
            <a:r>
              <a:t>6. ENGINE TELEMETRY</a:t>
            </a:r>
          </a:p>
          <a:p>
            <a:pPr>
              <a:lnSpc>
                <a:spcPct val="125000"/>
              </a:lnSpc>
              <a:defRPr sz="1000">
                <a:solidFill>
                  <a:srgbClr val="64748B"/>
                </a:solidFill>
              </a:defRPr>
            </a:pPr>
            <a:r>
              <a:t>Asserts live Neon PostgreSQL 16 persistence row sync, Qwen2.5-3B specs, and conformal bounds.</a:t>
            </a:r>
          </a:p>
        </p:txBody>
      </p:sp>
      <p:sp>
        <p:nvSpPr>
          <p:cNvPr id="19" name="Rectangle 18"/>
          <p:cNvSpPr/>
          <p:nvPr/>
        </p:nvSpPr>
        <p:spPr>
          <a:xfrm>
            <a:off x="8046720" y="3977639"/>
            <a:ext cx="3413455"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0" y="4160519"/>
            <a:ext cx="3047695" cy="274320"/>
          </a:xfrm>
          <a:prstGeom prst="roundRect">
            <a:avLst/>
          </a:prstGeom>
          <a:solidFill>
            <a:srgbClr val="F8FAFC"/>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9333EA"/>
                </a:solidFill>
                <a:latin typeface="Calibri"/>
              </a:defRPr>
            </a:pPr>
            <a:r>
              <a:t>FORENSIC WORKBENCH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LAW ENFORCEMENT ESCALATION</a:t>
            </a:r>
          </a:p>
          <a:p>
            <a:pPr>
              <a:defRPr sz="2300" b="1">
                <a:solidFill>
                  <a:srgbClr val="0F172A"/>
                </a:solidFill>
                <a:latin typeface="Calibri"/>
              </a:defRPr>
            </a:pPr>
            <a:r>
              <a:t>Official Dubai Police Escalation &amp; Citizen Advisory Pathways</a:t>
            </a:r>
          </a:p>
        </p:txBody>
      </p:sp>
      <p:sp>
        <p:nvSpPr>
          <p:cNvPr id="3" name="Rounded Rectangle 2"/>
          <p:cNvSpPr/>
          <p:nvPr/>
        </p:nvSpPr>
        <p:spPr>
          <a:xfrm>
            <a:off x="731520" y="1691640"/>
            <a:ext cx="5242255"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800"/>
              </a:spcAft>
              <a:defRPr sz="1400" b="1">
                <a:solidFill>
                  <a:srgbClr val="0F172A"/>
                </a:solidFill>
              </a:defRPr>
            </a:pPr>
            <a:r>
              <a:t>DUBAI POLICE e-CRIME ESCALATION</a:t>
            </a:r>
          </a:p>
          <a:p>
            <a:pPr>
              <a:spcAft>
                <a:spcPts val="1000"/>
              </a:spcAft>
              <a:defRPr sz="1050">
                <a:solidFill>
                  <a:srgbClr val="64748B"/>
                </a:solidFill>
              </a:defRPr>
            </a:pPr>
            <a:r>
              <a:t>When a RED verdict is confirmed, the system immediately binds the incident to official channels:</a:t>
            </a:r>
          </a:p>
          <a:p>
            <a:pPr>
              <a:spcAft>
                <a:spcPts val="400"/>
              </a:spcAft>
              <a:defRPr sz="1000" b="1">
                <a:solidFill>
                  <a:srgbClr val="EF4444"/>
                </a:solidFill>
              </a:defRPr>
            </a:pPr>
            <a:r>
              <a:t>🚨  Direct escalation to Dubai Police e-Crime (https://www.ecrime.ae)</a:t>
            </a:r>
          </a:p>
          <a:p>
            <a:pPr>
              <a:spcAft>
                <a:spcPts val="400"/>
              </a:spcAft>
              <a:defRPr sz="1000" b="1">
                <a:solidFill>
                  <a:srgbClr val="EF4444"/>
                </a:solidFill>
              </a:defRPr>
            </a:pPr>
            <a:r>
              <a:t>🚨  Municipal Non-Emergency Hotline integration (Call 901)</a:t>
            </a:r>
          </a:p>
          <a:p>
            <a:pPr>
              <a:spcAft>
                <a:spcPts val="400"/>
              </a:spcAft>
              <a:defRPr sz="1000" b="1">
                <a:solidFill>
                  <a:srgbClr val="EF4444"/>
                </a:solidFill>
              </a:defRPr>
            </a:pPr>
            <a:r>
              <a:t>🚨  Auto-generated STIX 2.1 incident packet for forensic handover</a:t>
            </a:r>
          </a:p>
          <a:p>
            <a:pPr>
              <a:spcAft>
                <a:spcPts val="400"/>
              </a:spcAft>
              <a:defRPr sz="1000" b="1">
                <a:solidFill>
                  <a:srgbClr val="EF4444"/>
                </a:solidFill>
              </a:defRPr>
            </a:pPr>
            <a:r>
              <a:t>🚨  TDRA ISP DNS firewall blocking IoC export</a:t>
            </a:r>
          </a:p>
        </p:txBody>
      </p:sp>
      <p:sp>
        <p:nvSpPr>
          <p:cNvPr id="4" name="Rectangle 3"/>
          <p:cNvSpPr/>
          <p:nvPr/>
        </p:nvSpPr>
        <p:spPr>
          <a:xfrm>
            <a:off x="731520" y="1691640"/>
            <a:ext cx="524225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920240"/>
            <a:ext cx="3200400" cy="292608"/>
          </a:xfrm>
          <a:prstGeom prst="roundRect">
            <a:avLst/>
          </a:prstGeom>
          <a:solidFill>
            <a:srgbClr val="F8FAFC"/>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EF4444"/>
                </a:solidFill>
                <a:latin typeface="Calibri"/>
              </a:defRPr>
            </a:pPr>
            <a:r>
              <a:t>OFFICIAL LAW ENFORCEMENT SYNC</a:t>
            </a:r>
          </a:p>
        </p:txBody>
      </p:sp>
      <p:sp>
        <p:nvSpPr>
          <p:cNvPr id="6" name="Rounded Rectangle 5"/>
          <p:cNvSpPr/>
          <p:nvPr/>
        </p:nvSpPr>
        <p:spPr>
          <a:xfrm>
            <a:off x="6217920" y="1691640"/>
            <a:ext cx="5242255"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800"/>
              </a:spcAft>
              <a:defRPr sz="1400" b="1">
                <a:solidFill>
                  <a:srgbClr val="0F172A"/>
                </a:solidFill>
              </a:defRPr>
            </a:pPr>
            <a:r>
              <a:t>IMMEDIATE CITIZEN DEFENSE STEPS</a:t>
            </a:r>
          </a:p>
          <a:p>
            <a:pPr>
              <a:spcAft>
                <a:spcPts val="1000"/>
              </a:spcAft>
              <a:defRPr sz="1050">
                <a:solidFill>
                  <a:srgbClr val="64748B"/>
                </a:solidFill>
              </a:defRPr>
            </a:pPr>
            <a:r>
              <a:t>The citizen receives immediate, clear behavioral directives in Arabic &amp; English:</a:t>
            </a:r>
          </a:p>
          <a:p>
            <a:pPr>
              <a:spcAft>
                <a:spcPts val="400"/>
              </a:spcAft>
              <a:defRPr sz="1000" b="1">
                <a:solidFill>
                  <a:srgbClr val="10B981"/>
                </a:solidFill>
              </a:defRPr>
            </a:pPr>
            <a:r>
              <a:t>🛡  Do NOT click any embedded links or download attachments</a:t>
            </a:r>
          </a:p>
          <a:p>
            <a:pPr>
              <a:spcAft>
                <a:spcPts val="400"/>
              </a:spcAft>
              <a:defRPr sz="1000" b="1">
                <a:solidFill>
                  <a:srgbClr val="10B981"/>
                </a:solidFill>
              </a:defRPr>
            </a:pPr>
            <a:r>
              <a:t>🛡  Never share OTP tokens, passwords, or Emirates ID numbers</a:t>
            </a:r>
          </a:p>
          <a:p>
            <a:pPr>
              <a:spcAft>
                <a:spcPts val="400"/>
              </a:spcAft>
              <a:defRPr sz="1000" b="1">
                <a:solidFill>
                  <a:srgbClr val="10B981"/>
                </a:solidFill>
              </a:defRPr>
            </a:pPr>
            <a:r>
              <a:t>🛡  Do NOT transfer funds or provide credit card verification</a:t>
            </a:r>
          </a:p>
          <a:p>
            <a:pPr>
              <a:spcAft>
                <a:spcPts val="400"/>
              </a:spcAft>
              <a:defRPr sz="1000" b="1">
                <a:solidFill>
                  <a:srgbClr val="10B981"/>
                </a:solidFill>
              </a:defRPr>
            </a:pPr>
            <a:r>
              <a:t>🛡  Block and report the sender's phone number on WhatsApp</a:t>
            </a:r>
          </a:p>
        </p:txBody>
      </p:sp>
      <p:sp>
        <p:nvSpPr>
          <p:cNvPr id="7" name="Rectangle 6"/>
          <p:cNvSpPr/>
          <p:nvPr/>
        </p:nvSpPr>
        <p:spPr>
          <a:xfrm>
            <a:off x="6217920" y="1691640"/>
            <a:ext cx="524225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92240" y="1920240"/>
            <a:ext cx="3200400" cy="292608"/>
          </a:xfrm>
          <a:prstGeom prst="roundRect">
            <a:avLst/>
          </a:prstGeom>
          <a:solidFill>
            <a:srgbClr val="F8FAF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10B981"/>
                </a:solidFill>
                <a:latin typeface="Calibri"/>
              </a:defRPr>
            </a:pPr>
            <a:r>
              <a:t>PROTECTIVE CITIZEN GUIDANCE</a:t>
            </a:r>
          </a:p>
        </p:txBody>
      </p:sp>
      <p:sp>
        <p:nvSpPr>
          <p:cNvPr id="9" name="Rounded Rectangle 8"/>
          <p:cNvSpPr/>
          <p:nvPr/>
        </p:nvSpPr>
        <p:spPr>
          <a:xfrm>
            <a:off x="731520" y="5760720"/>
            <a:ext cx="10728655" cy="594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4748B"/>
                </a:solidFill>
              </a:defRPr>
            </a:pPr>
            <a:r>
              <a:t>Open-Source Disclaimer: Project Hares is an independent community defense platform and not an official government entity. All threats are escalated to official law enforcement.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2563EB"/>
                </a:solidFill>
                <a:latin typeface="Calibri"/>
              </a:defRPr>
            </a:pPr>
            <a:r>
              <a:t>●  QUALITY ASSURANCE</a:t>
            </a:r>
          </a:p>
          <a:p>
            <a:pPr>
              <a:defRPr sz="2300" b="1">
                <a:solidFill>
                  <a:srgbClr val="0F172A"/>
                </a:solidFill>
                <a:latin typeface="Calibri"/>
              </a:defRPr>
            </a:pPr>
            <a:r>
              <a:t>Testing Harness &amp; Continuous Verification: 100% Suite Pass Rate</a:t>
            </a:r>
          </a:p>
        </p:txBody>
      </p:sp>
      <p:sp>
        <p:nvSpPr>
          <p:cNvPr id="3" name="Rounded Rectangle 2"/>
          <p:cNvSpPr/>
          <p:nvPr/>
        </p:nvSpPr>
        <p:spPr>
          <a:xfrm>
            <a:off x="731520" y="1691640"/>
            <a:ext cx="52422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94360"/>
          <a:lstStyle/>
          <a:p>
            <a:pPr algn="ctr">
              <a:spcAft>
                <a:spcPts val="400"/>
              </a:spcAft>
              <a:defRPr sz="1600" b="1">
                <a:solidFill>
                  <a:srgbClr val="10B981"/>
                </a:solidFill>
              </a:defRPr>
            </a:pPr>
            <a:r>
              <a:t>17 / 17 TESTS PASSED</a:t>
            </a:r>
          </a:p>
          <a:p>
            <a:pPr>
              <a:spcAft>
                <a:spcPts val="600"/>
              </a:spcAft>
              <a:defRPr sz="1100" b="1">
                <a:solidFill>
                  <a:srgbClr val="0F172A"/>
                </a:solidFill>
              </a:defRPr>
            </a:pPr>
            <a:r>
              <a:t>PLAYWRIGHT E2E SUITE</a:t>
            </a:r>
          </a:p>
          <a:p>
            <a:pPr>
              <a:lnSpc>
                <a:spcPct val="125000"/>
              </a:lnSpc>
              <a:defRPr sz="1000">
                <a:solidFill>
                  <a:srgbClr val="64748B"/>
                </a:solidFill>
              </a:defRPr>
            </a:pPr>
            <a:r>
              <a:t>Full end-to-end browser automation covering Citizen Portal, SOC Security Gate, STIX Attack Graph, and live Neon DB sync.</a:t>
            </a:r>
          </a:p>
        </p:txBody>
      </p:sp>
      <p:sp>
        <p:nvSpPr>
          <p:cNvPr id="4" name="Rectangle 3"/>
          <p:cNvSpPr/>
          <p:nvPr/>
        </p:nvSpPr>
        <p:spPr>
          <a:xfrm>
            <a:off x="731520" y="1691640"/>
            <a:ext cx="524225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874520"/>
            <a:ext cx="4693615" cy="274320"/>
          </a:xfrm>
          <a:prstGeom prst="roundRect">
            <a:avLst/>
          </a:prstGeom>
          <a:solidFill>
            <a:srgbClr val="F8FAF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10B981"/>
                </a:solidFill>
                <a:latin typeface="Calibri"/>
              </a:defRPr>
            </a:pPr>
            <a:r>
              <a:t>01-04 E2E SPECS</a:t>
            </a:r>
          </a:p>
        </p:txBody>
      </p:sp>
      <p:sp>
        <p:nvSpPr>
          <p:cNvPr id="6" name="Rounded Rectangle 5"/>
          <p:cNvSpPr/>
          <p:nvPr/>
        </p:nvSpPr>
        <p:spPr>
          <a:xfrm>
            <a:off x="6217920" y="1691640"/>
            <a:ext cx="52422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94360"/>
          <a:lstStyle/>
          <a:p>
            <a:pPr algn="ctr">
              <a:spcAft>
                <a:spcPts val="400"/>
              </a:spcAft>
              <a:defRPr sz="1600" b="1">
                <a:solidFill>
                  <a:srgbClr val="2563EB"/>
                </a:solidFill>
              </a:defRPr>
            </a:pPr>
            <a:r>
              <a:t>500 / 500 CONTAINED</a:t>
            </a:r>
          </a:p>
          <a:p>
            <a:pPr>
              <a:spcAft>
                <a:spcPts val="600"/>
              </a:spcAft>
              <a:defRPr sz="1100" b="1">
                <a:solidFill>
                  <a:srgbClr val="0F172A"/>
                </a:solidFill>
              </a:defRPr>
            </a:pPr>
            <a:r>
              <a:t>PROMPT INJECTION RESISTANCE</a:t>
            </a:r>
          </a:p>
          <a:p>
            <a:pPr>
              <a:lnSpc>
                <a:spcPct val="125000"/>
              </a:lnSpc>
              <a:defRPr sz="1000">
                <a:solidFill>
                  <a:srgbClr val="64748B"/>
                </a:solidFill>
              </a:defRPr>
            </a:pPr>
            <a:r>
              <a:t>Meta CyberSecEval v3.0 jailbreak battery evaluated against Colang 2.0 guardrails; 100% attack containment verified.</a:t>
            </a:r>
          </a:p>
        </p:txBody>
      </p:sp>
      <p:sp>
        <p:nvSpPr>
          <p:cNvPr id="7" name="Rectangle 6"/>
          <p:cNvSpPr/>
          <p:nvPr/>
        </p:nvSpPr>
        <p:spPr>
          <a:xfrm>
            <a:off x="6217920" y="1691640"/>
            <a:ext cx="524225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92240" y="1874520"/>
            <a:ext cx="4693615" cy="274320"/>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2563EB"/>
                </a:solidFill>
                <a:latin typeface="Calibri"/>
              </a:defRPr>
            </a:pPr>
            <a:r>
              <a:t>CYBERSECEVAL V3.0</a:t>
            </a:r>
          </a:p>
        </p:txBody>
      </p:sp>
      <p:sp>
        <p:nvSpPr>
          <p:cNvPr id="9" name="Rounded Rectangle 8"/>
          <p:cNvSpPr/>
          <p:nvPr/>
        </p:nvSpPr>
        <p:spPr>
          <a:xfrm>
            <a:off x="731520" y="3977639"/>
            <a:ext cx="52422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94360"/>
          <a:lstStyle/>
          <a:p>
            <a:pPr algn="ctr">
              <a:spcAft>
                <a:spcPts val="400"/>
              </a:spcAft>
              <a:defRPr sz="1600" b="1">
                <a:solidFill>
                  <a:srgbClr val="EF4444"/>
                </a:solidFill>
              </a:defRPr>
            </a:pPr>
            <a:r>
              <a:t>0.0000% FALSE POSITIVES</a:t>
            </a:r>
          </a:p>
          <a:p>
            <a:pPr>
              <a:spcAft>
                <a:spcPts val="600"/>
              </a:spcAft>
              <a:defRPr sz="1100" b="1">
                <a:solidFill>
                  <a:srgbClr val="0F172A"/>
                </a:solidFill>
              </a:defRPr>
            </a:pPr>
            <a:r>
              <a:t>CONFORMAL RISK CALIBRATION</a:t>
            </a:r>
          </a:p>
          <a:p>
            <a:pPr>
              <a:lnSpc>
                <a:spcPct val="125000"/>
              </a:lnSpc>
              <a:defRPr sz="1000">
                <a:solidFill>
                  <a:srgbClr val="64748B"/>
                </a:solidFill>
              </a:defRPr>
            </a:pPr>
            <a:r>
              <a:t>Split-conformal calibration verified with 0 false alarms on 500 calibration holdouts, certifying ≤ 0.1% bound.</a:t>
            </a:r>
          </a:p>
        </p:txBody>
      </p:sp>
      <p:sp>
        <p:nvSpPr>
          <p:cNvPr id="10" name="Rectangle 9"/>
          <p:cNvSpPr/>
          <p:nvPr/>
        </p:nvSpPr>
        <p:spPr>
          <a:xfrm>
            <a:off x="731520" y="3977639"/>
            <a:ext cx="524225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4160519"/>
            <a:ext cx="4693615" cy="274320"/>
          </a:xfrm>
          <a:prstGeom prst="roundRect">
            <a:avLst/>
          </a:prstGeom>
          <a:solidFill>
            <a:srgbClr val="F8FAFC"/>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EF4444"/>
                </a:solidFill>
                <a:latin typeface="Calibri"/>
              </a:defRPr>
            </a:pPr>
            <a:r>
              <a:t>SPLIT-CONFORMAL</a:t>
            </a:r>
          </a:p>
        </p:txBody>
      </p:sp>
      <p:sp>
        <p:nvSpPr>
          <p:cNvPr id="12" name="Rounded Rectangle 11"/>
          <p:cNvSpPr/>
          <p:nvPr/>
        </p:nvSpPr>
        <p:spPr>
          <a:xfrm>
            <a:off x="6217920" y="3977639"/>
            <a:ext cx="5242255"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94360"/>
          <a:lstStyle/>
          <a:p>
            <a:pPr algn="ctr">
              <a:spcAft>
                <a:spcPts val="400"/>
              </a:spcAft>
              <a:defRPr sz="1600" b="1">
                <a:solidFill>
                  <a:srgbClr val="9333EA"/>
                </a:solidFill>
              </a:defRPr>
            </a:pPr>
            <a:r>
              <a:t>0 PLAINTEXT LEAKS</a:t>
            </a:r>
          </a:p>
          <a:p>
            <a:pPr>
              <a:spcAft>
                <a:spcPts val="600"/>
              </a:spcAft>
              <a:defRPr sz="1100" b="1">
                <a:solidFill>
                  <a:srgbClr val="0F172A"/>
                </a:solidFill>
              </a:defRPr>
            </a:pPr>
            <a:r>
              <a:t>ZERO-PII MEMORY AUDIT</a:t>
            </a:r>
          </a:p>
          <a:p>
            <a:pPr>
              <a:lnSpc>
                <a:spcPct val="125000"/>
              </a:lnSpc>
              <a:defRPr sz="1000">
                <a:solidFill>
                  <a:srgbClr val="64748B"/>
                </a:solidFill>
              </a:defRPr>
            </a:pPr>
            <a:r>
              <a:t>Automated memory inspection tests verify that submitter phone numbers are never stored in plain text or RAM caches.</a:t>
            </a:r>
          </a:p>
        </p:txBody>
      </p:sp>
      <p:sp>
        <p:nvSpPr>
          <p:cNvPr id="13" name="Rectangle 12"/>
          <p:cNvSpPr/>
          <p:nvPr/>
        </p:nvSpPr>
        <p:spPr>
          <a:xfrm>
            <a:off x="6217920" y="3977639"/>
            <a:ext cx="5242255"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92240" y="4160519"/>
            <a:ext cx="4693615" cy="274320"/>
          </a:xfrm>
          <a:prstGeom prst="roundRect">
            <a:avLst/>
          </a:prstGeom>
          <a:solidFill>
            <a:srgbClr val="F8FAFC"/>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9333EA"/>
                </a:solidFill>
                <a:latin typeface="Calibri"/>
              </a:defRPr>
            </a:pPr>
            <a:r>
              <a:t>DESC ISR V2.0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411480"/>
            <a:ext cx="10728655" cy="1051560"/>
          </a:xfrm>
          <a:prstGeom prst="rect">
            <a:avLst/>
          </a:prstGeom>
          <a:noFill/>
        </p:spPr>
        <p:txBody>
          <a:bodyPr wrap="square" tIns="0" lIns="0">
            <a:spAutoFit/>
          </a:bodyPr>
          <a:lstStyle/>
          <a:p>
            <a:pPr>
              <a:spcAft>
                <a:spcPts val="300"/>
              </a:spcAft>
              <a:defRPr sz="1000" b="1">
                <a:solidFill>
                  <a:srgbClr val="06B6D4"/>
                </a:solidFill>
                <a:latin typeface="Calibri"/>
              </a:defRPr>
            </a:pPr>
            <a:r>
              <a:t>●  EXECUTIVE CONCLUSION</a:t>
            </a:r>
          </a:p>
          <a:p>
            <a:pPr>
              <a:defRPr sz="2300" b="1">
                <a:solidFill>
                  <a:srgbClr val="FFFFFF"/>
                </a:solidFill>
                <a:latin typeface="Calibri"/>
              </a:defRPr>
            </a:pPr>
            <a:r>
              <a:t>Project Hares: Protecting Dubai's Sovereign Digital Horizon</a:t>
            </a:r>
          </a:p>
        </p:txBody>
      </p:sp>
      <p:sp>
        <p:nvSpPr>
          <p:cNvPr id="3" name="Rounded Rectangle 2"/>
          <p:cNvSpPr/>
          <p:nvPr/>
        </p:nvSpPr>
        <p:spPr>
          <a:xfrm>
            <a:off x="731520" y="1737360"/>
            <a:ext cx="3413455" cy="29260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1000"/>
              </a:spcAft>
              <a:defRPr sz="1400" b="1">
                <a:solidFill>
                  <a:srgbClr val="FFFFFF"/>
                </a:solidFill>
              </a:defRPr>
            </a:pPr>
            <a:r>
              <a:t>SOVEREIGN AI DEFENSE</a:t>
            </a:r>
          </a:p>
          <a:p>
            <a:pPr>
              <a:lnSpc>
                <a:spcPct val="130000"/>
              </a:lnSpc>
              <a:defRPr sz="1100">
                <a:solidFill>
                  <a:srgbClr val="94A3B8"/>
                </a:solidFill>
              </a:defRPr>
            </a:pPr>
            <a:r>
              <a:t>100% on-premise execution, sub-3.5ms webhook ingress, and 97.16% dialectal threat recall on UAE lures.</a:t>
            </a:r>
          </a:p>
        </p:txBody>
      </p:sp>
      <p:sp>
        <p:nvSpPr>
          <p:cNvPr id="4" name="Rectangle 3"/>
          <p:cNvSpPr/>
          <p:nvPr/>
        </p:nvSpPr>
        <p:spPr>
          <a:xfrm>
            <a:off x="731520" y="1737360"/>
            <a:ext cx="341345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965960"/>
            <a:ext cx="2864815" cy="274320"/>
          </a:xfrm>
          <a:prstGeom prst="roundRect">
            <a:avLst/>
          </a:prstGeom>
          <a:solidFill>
            <a:srgbClr val="0A0F1D"/>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10B981"/>
                </a:solidFill>
                <a:latin typeface="Calibri"/>
              </a:defRPr>
            </a:pPr>
            <a:r>
              <a:t>CORE ARCHITECTURAL PILLAR</a:t>
            </a:r>
          </a:p>
        </p:txBody>
      </p:sp>
      <p:sp>
        <p:nvSpPr>
          <p:cNvPr id="6" name="Rounded Rectangle 5"/>
          <p:cNvSpPr/>
          <p:nvPr/>
        </p:nvSpPr>
        <p:spPr>
          <a:xfrm>
            <a:off x="4389120" y="1737360"/>
            <a:ext cx="3413455" cy="29260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1000"/>
              </a:spcAft>
              <a:defRPr sz="1400" b="1">
                <a:solidFill>
                  <a:srgbClr val="FFFFFF"/>
                </a:solidFill>
              </a:defRPr>
            </a:pPr>
            <a:r>
              <a:t>ZERO-PII INTEGRITY</a:t>
            </a:r>
          </a:p>
          <a:p>
            <a:pPr>
              <a:lnSpc>
                <a:spcPct val="130000"/>
              </a:lnSpc>
              <a:defRPr sz="1100">
                <a:solidFill>
                  <a:srgbClr val="94A3B8"/>
                </a:solidFill>
              </a:defRPr>
            </a:pPr>
            <a:r>
              <a:t>Cryptographically certified under UAE PDPL Law 45 &amp; DESC ISR v2.0 with HMAC-SHA256 citizen pseudonymization.</a:t>
            </a:r>
          </a:p>
        </p:txBody>
      </p:sp>
      <p:sp>
        <p:nvSpPr>
          <p:cNvPr id="7" name="Rectangle 6"/>
          <p:cNvSpPr/>
          <p:nvPr/>
        </p:nvSpPr>
        <p:spPr>
          <a:xfrm>
            <a:off x="4389120" y="1737360"/>
            <a:ext cx="341345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965960"/>
            <a:ext cx="2864815" cy="274320"/>
          </a:xfrm>
          <a:prstGeom prst="roundRect">
            <a:avLst/>
          </a:prstGeom>
          <a:solidFill>
            <a:srgbClr val="0A0F1D"/>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F59E0B"/>
                </a:solidFill>
                <a:latin typeface="Calibri"/>
              </a:defRPr>
            </a:pPr>
            <a:r>
              <a:t>CORE ARCHITECTURAL PILLAR</a:t>
            </a:r>
          </a:p>
        </p:txBody>
      </p:sp>
      <p:sp>
        <p:nvSpPr>
          <p:cNvPr id="9" name="Rounded Rectangle 8"/>
          <p:cNvSpPr/>
          <p:nvPr/>
        </p:nvSpPr>
        <p:spPr>
          <a:xfrm>
            <a:off x="8046720" y="1737360"/>
            <a:ext cx="3413455" cy="29260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spcAft>
                <a:spcPts val="1000"/>
              </a:spcAft>
              <a:defRPr sz="1400" b="1">
                <a:solidFill>
                  <a:srgbClr val="FFFFFF"/>
                </a:solidFill>
              </a:defRPr>
            </a:pPr>
            <a:r>
              <a:t>PRODUCTION VERIFIED</a:t>
            </a:r>
          </a:p>
          <a:p>
            <a:pPr>
              <a:lnSpc>
                <a:spcPct val="130000"/>
              </a:lnSpc>
              <a:defRPr sz="1100">
                <a:solidFill>
                  <a:srgbClr val="94A3B8"/>
                </a:solidFill>
              </a:defRPr>
            </a:pPr>
            <a:r>
              <a:t>Live on Vercel Edge, FastAPI Render, HF ZeroGPU A10G, and Neon Serverless PostgreSQL 16.</a:t>
            </a:r>
          </a:p>
        </p:txBody>
      </p:sp>
      <p:sp>
        <p:nvSpPr>
          <p:cNvPr id="10" name="Rectangle 9"/>
          <p:cNvSpPr/>
          <p:nvPr/>
        </p:nvSpPr>
        <p:spPr>
          <a:xfrm>
            <a:off x="8046720" y="1737360"/>
            <a:ext cx="341345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21040" y="1965960"/>
            <a:ext cx="2864815" cy="274320"/>
          </a:xfrm>
          <a:prstGeom prst="roundRect">
            <a:avLst/>
          </a:prstGeom>
          <a:solidFill>
            <a:srgbClr val="0A0F1D"/>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27432" bIns="27432" lIns="73152" rIns="73152"/>
          <a:lstStyle/>
          <a:p>
            <a:pPr algn="ctr">
              <a:defRPr sz="850" b="1">
                <a:solidFill>
                  <a:srgbClr val="06B6D4"/>
                </a:solidFill>
                <a:latin typeface="Calibri"/>
              </a:defRPr>
            </a:pPr>
            <a:r>
              <a:t>CORE ARCHITECTURAL PILLAR</a:t>
            </a:r>
          </a:p>
        </p:txBody>
      </p:sp>
      <p:sp>
        <p:nvSpPr>
          <p:cNvPr id="12" name="Rounded Rectangle 11"/>
          <p:cNvSpPr/>
          <p:nvPr/>
        </p:nvSpPr>
        <p:spPr>
          <a:xfrm>
            <a:off x="731520" y="4892040"/>
            <a:ext cx="10728655" cy="137160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spcAft>
                <a:spcPts val="600"/>
              </a:spcAft>
              <a:defRPr sz="1100" b="1">
                <a:solidFill>
                  <a:srgbClr val="2563EB"/>
                </a:solidFill>
              </a:defRPr>
            </a:pPr>
            <a:r>
              <a:t>LIVE PRODUCTION ACCESS &amp; REPOSITORY REPOSITORIES</a:t>
            </a:r>
          </a:p>
          <a:p>
            <a:pPr>
              <a:lnSpc>
                <a:spcPct val="125000"/>
              </a:lnSpc>
              <a:defRPr sz="950">
                <a:solidFill>
                  <a:srgbClr val="94A3B8"/>
                </a:solidFill>
              </a:defRPr>
            </a:pPr>
            <a:r>
              <a:t>• Citizen &amp; SOC Portal: https://hares-wheat.vercel.app</a:t>
            </a:r>
            <a:br/>
            <a:r>
              <a:t>• Core API Gateway: https://hares-api.onrender.com/docs</a:t>
            </a:r>
            <a:br/>
            <a:r>
              <a:t>• Sovereign Neural Engine: https://huggingface.co/spaces/abdullahashraf122/hares-neural-engine</a:t>
            </a:r>
            <a:br/>
            <a:r>
              <a:t>• Complete Architecture Blueprint: C:/HARES/project.md (930 Lines • Fully Ground-Truth Verified)</a:t>
            </a:r>
          </a:p>
        </p:txBody>
      </p:sp>
      <p:sp>
        <p:nvSpPr>
          <p:cNvPr id="13" name="Rectangle 12"/>
          <p:cNvSpPr/>
          <p:nvPr/>
        </p:nvSpPr>
        <p:spPr>
          <a:xfrm>
            <a:off x="731520" y="4892040"/>
            <a:ext cx="1072865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