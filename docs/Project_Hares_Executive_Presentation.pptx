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esteemed colleagues and leadership. Today, I am proud to present Project Hares—Dubai's sovereign, automated fraud triage and threat intelligence system. In an era where social engineering and deepfake scams weaponize local trust, Project Hares provides an instantaneous, privacy-preserving defense shield for every citizen and resident.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Threat actors in the UAE are no longer sending generic spam. They send hyper-targeted, Arabic and English lures impersonating Salik, Dubai Police, and the Central Bank. A victim panics and clicks within minutes. Traditional municipal reporting queues that take days are fundamentally obsolete.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engineered Project Hares on five uncompromised engineering pillars. We guarantee that no resident data ever leaves UAE sovereignty, no citizen phone numbers are stored in plain text, and our mathematical error rate is bounded strictly to 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Citizens interact with fraud across multiple mediums. Hares accepts forwarded text messages, URLs, raw voice notes, and screenshots, unifying them into a single automated pipeline with sub-second execution guarantees.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waking up heavy neural models, our deterministic engine inspects URLs. Official government sites are verified instantly in 15 milliseconds. Deceptive Cyrillic lookalikes and fake .cc domains are intercepted and neutralized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complex semantic analysis is required, our fine-tuned Qwen2.5-3B engine on ZeroGPU A10G analyzes the lure. Wrapped in Colang 2.0 guardrails, it strips citizen PII and enforces a strict JSON output format, preventing model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 cloning is the newest frontier in fraud. Our Whisper Dual-Head architecture inspects the micro-spectral continuity of the audio signal, detecting synthetic vocoder artifacts in under 180 milliseconds with zero false alarms.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is not an afterthought; it is our architecture. Citizen phone numbers are hashed immediately and permanently wiped from volatile RAM. Only the scammer's threat indicators are preserved in the threat intelligence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 not guess; we measure. Across 500 dialectal tests and 500 acoustic deepfakes, Project Hares achieved 97.16% text recall, 100% audio spoof detection, and complete immunity against adversarial prompt injection.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Dubai is a global melting pot. In compliance with Digital Dubai AI Ethics guidelines, our dialect parity ratio is 0.91, ensuring equal protection across Emirati citizens, Arab residents, and the international expatriate community.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saves victims. Our webhook acknowledges incoming queries in 3.5 milliseconds, while our complete multi-modal neural verdict is returned in approximately 3 seconds.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municipal security analysts, Project Hares features a dedicated SOC hub with an interactive STIX 2.1 graph, mapping live relationships between threat actors, phishing domains, and targeted government services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RED threat is confirmed, the citizen is immediately provided with one-tap escalation channels to Dubai Police e-Crime and the 901 hotline, closing the loop between detection and legal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builds trust. Project Hares proudly displays an independent open-source advisory ribbon across every page, providing full legal terms and mathematical disclaimers.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Hares is fully operational, verified across 17 automated end-to-end test suites, and deployed live. Thank you for your time, and we invite you to explore the live portal and system ledger.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Rectangle 1"/>
          <p:cNvSpPr/>
          <p:nvPr/>
        </p:nvSpPr>
        <p:spPr>
          <a:xfrm>
            <a:off x="731520" y="1097280"/>
            <a:ext cx="10728655" cy="365760"/>
          </a:xfrm>
          <a:prstGeom prst="rect">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EMIRATE OF DUBAI • MUNICIPAL CYBERSECURITY • SOVEREIGN DEFENSE PLATFORM</a:t>
            </a:r>
          </a:p>
        </p:txBody>
      </p:sp>
      <p:sp>
        <p:nvSpPr>
          <p:cNvPr id="3" name="TextBox 2"/>
          <p:cNvSpPr txBox="1"/>
          <p:nvPr/>
        </p:nvSpPr>
        <p:spPr>
          <a:xfrm>
            <a:off x="731520" y="1828800"/>
            <a:ext cx="10728655" cy="2743200"/>
          </a:xfrm>
          <a:prstGeom prst="rect">
            <a:avLst/>
          </a:prstGeom>
          <a:noFill/>
        </p:spPr>
        <p:txBody>
          <a:bodyPr wrap="square">
            <a:spAutoFit/>
          </a:bodyPr>
          <a:lstStyle/>
          <a:p>
            <a:pPr>
              <a:spcAft>
                <a:spcPts val="1200"/>
              </a:spcAft>
              <a:defRPr sz="4400" b="1">
                <a:solidFill>
                  <a:srgbClr val="FFFFFF"/>
                </a:solidFill>
                <a:latin typeface="Calibri"/>
              </a:defRPr>
            </a:pPr>
            <a:r>
              <a:t>PROJECT HARES (مشروع حارس)</a:t>
            </a:r>
          </a:p>
          <a:p>
            <a:pPr>
              <a:spcAft>
                <a:spcPts val="1800"/>
              </a:spcAft>
              <a:defRPr sz="2000">
                <a:solidFill>
                  <a:srgbClr val="D97706"/>
                </a:solidFill>
                <a:latin typeface="Calibri"/>
              </a:defRPr>
            </a:pPr>
            <a:r>
              <a:t>Autonomous Sovereign Multi-Modal Fraud Triage &amp; Threat Intelligence System</a:t>
            </a:r>
          </a:p>
          <a:p>
            <a:pPr>
              <a:defRPr sz="1200">
                <a:solidFill>
                  <a:srgbClr val="94A3B8"/>
                </a:solidFill>
                <a:latin typeface="Calibri"/>
              </a:defRPr>
            </a:pPr>
            <a:r>
              <a:t>Production Verified • DESC ISR v2.0 • Digital Dubai AI Ethics • Conformal Error Bounded (≤ 0.1%)</a:t>
            </a:r>
          </a:p>
        </p:txBody>
      </p:sp>
      <p:sp>
        <p:nvSpPr>
          <p:cNvPr id="4" name="Rounded Rectangle 3"/>
          <p:cNvSpPr/>
          <p:nvPr/>
        </p:nvSpPr>
        <p:spPr>
          <a:xfrm>
            <a:off x="731520" y="5303520"/>
            <a:ext cx="10728655" cy="731520"/>
          </a:xfrm>
          <a:prstGeom prst="roundRect">
            <a:avLst/>
          </a:prstGeom>
          <a:solidFill>
            <a:srgbClr val="16213E"/>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defRPr>
            </a:pPr>
            <a:r>
              <a:t>Live Deployments: Vercel Edge Portal (hares-wheat.vercel.app) | API Gateway (hares-api.onrender.com) | HF ZeroGPU A10G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The Dubai Cyber Threat Landscape: The Urgency in Numbers</a:t>
            </a:r>
          </a:p>
        </p:txBody>
      </p:sp>
      <p:sp>
        <p:nvSpPr>
          <p:cNvPr id="3" name="Rounded Rectangle 2"/>
          <p:cNvSpPr/>
          <p:nvPr/>
        </p:nvSpPr>
        <p:spPr>
          <a:xfrm>
            <a:off x="731520" y="1828800"/>
            <a:ext cx="3383280" cy="4297680"/>
          </a:xfrm>
          <a:prstGeom prst="roundRect">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65760"/>
          <a:lstStyle/>
          <a:p>
            <a:pPr algn="ctr">
              <a:spcAft>
                <a:spcPts val="1200"/>
              </a:spcAft>
              <a:defRPr sz="2200" b="1">
                <a:solidFill>
                  <a:srgbClr val="DC2626"/>
                </a:solidFill>
              </a:defRPr>
            </a:pPr>
            <a:r>
              <a:t>60% of Reported Lures</a:t>
            </a:r>
          </a:p>
          <a:p>
            <a:pPr>
              <a:spcAft>
                <a:spcPts val="1400"/>
              </a:spcAft>
              <a:defRPr sz="1200" b="1">
                <a:solidFill>
                  <a:srgbClr val="0F172A"/>
                </a:solidFill>
              </a:defRPr>
            </a:pPr>
            <a:r>
              <a:t>MUNICIPAL IMPERSONATION</a:t>
            </a:r>
          </a:p>
          <a:p>
            <a:pPr>
              <a:lnSpc>
                <a:spcPct val="120000"/>
              </a:lnSpc>
              <a:defRPr sz="1100">
                <a:solidFill>
                  <a:srgbClr val="475569"/>
                </a:solidFill>
              </a:defRPr>
            </a:pPr>
            <a:r>
              <a:t>Attackers weaponize trust via fake Salik toll alerts and Dubai Police legal summonses demanding immediate fines.</a:t>
            </a:r>
          </a:p>
        </p:txBody>
      </p:sp>
      <p:sp>
        <p:nvSpPr>
          <p:cNvPr id="4" name="Rounded Rectangle 3"/>
          <p:cNvSpPr/>
          <p:nvPr/>
        </p:nvSpPr>
        <p:spPr>
          <a:xfrm>
            <a:off x="4389120" y="1828800"/>
            <a:ext cx="3383280" cy="4297680"/>
          </a:xfrm>
          <a:prstGeom prst="roundRect">
            <a:avLst/>
          </a:prstGeom>
          <a:solidFill>
            <a:srgbClr val="FFFFFF"/>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65760"/>
          <a:lstStyle/>
          <a:p>
            <a:pPr algn="ctr">
              <a:spcAft>
                <a:spcPts val="1200"/>
              </a:spcAft>
              <a:defRPr sz="2200" b="1">
                <a:solidFill>
                  <a:srgbClr val="D97706"/>
                </a:solidFill>
              </a:defRPr>
            </a:pPr>
            <a:r>
              <a:t>Sub-180ms Exploits</a:t>
            </a:r>
          </a:p>
          <a:p>
            <a:pPr>
              <a:spcAft>
                <a:spcPts val="1400"/>
              </a:spcAft>
              <a:defRPr sz="1200" b="1">
                <a:solidFill>
                  <a:srgbClr val="0F172A"/>
                </a:solidFill>
              </a:defRPr>
            </a:pPr>
            <a:r>
              <a:t>AI VOICE CLONING</a:t>
            </a:r>
          </a:p>
          <a:p>
            <a:pPr>
              <a:lnSpc>
                <a:spcPct val="120000"/>
              </a:lnSpc>
              <a:defRPr sz="1100">
                <a:solidFill>
                  <a:srgbClr val="475569"/>
                </a:solidFill>
              </a:defRPr>
            </a:pPr>
            <a:r>
              <a:t>WhatsApp voice notes generated by neural vocoders impersonate family members and executives in high-panic scenarios.</a:t>
            </a:r>
          </a:p>
        </p:txBody>
      </p:sp>
      <p:sp>
        <p:nvSpPr>
          <p:cNvPr id="5" name="Rounded Rectangle 4"/>
          <p:cNvSpPr/>
          <p:nvPr/>
        </p:nvSpPr>
        <p:spPr>
          <a:xfrm>
            <a:off x="8046720" y="1828800"/>
            <a:ext cx="3383280" cy="429768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65760"/>
          <a:lstStyle/>
          <a:p>
            <a:pPr algn="ctr">
              <a:spcAft>
                <a:spcPts val="1200"/>
              </a:spcAft>
              <a:defRPr sz="2200" b="1">
                <a:solidFill>
                  <a:srgbClr val="2563EB"/>
                </a:solidFill>
              </a:defRPr>
            </a:pPr>
            <a:r>
              <a:t>15-Min Response Gap</a:t>
            </a:r>
          </a:p>
          <a:p>
            <a:pPr>
              <a:spcAft>
                <a:spcPts val="1400"/>
              </a:spcAft>
              <a:defRPr sz="1200" b="1">
                <a:solidFill>
                  <a:srgbClr val="0F172A"/>
                </a:solidFill>
              </a:defRPr>
            </a:pPr>
            <a:r>
              <a:t>CITIZEN VULNERABILITY</a:t>
            </a:r>
          </a:p>
          <a:p>
            <a:pPr>
              <a:lnSpc>
                <a:spcPct val="120000"/>
              </a:lnSpc>
              <a:defRPr sz="1100">
                <a:solidFill>
                  <a:srgbClr val="475569"/>
                </a:solidFill>
              </a:defRPr>
            </a:pPr>
            <a:r>
              <a:t>Victims comply within 15 minutes of receiving a threat, while traditional manual reporting takes 24 to 48 hours.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Sovereign System Architecture: The Five Core Invariants</a:t>
            </a:r>
          </a:p>
        </p:txBody>
      </p:sp>
      <p:sp>
        <p:nvSpPr>
          <p:cNvPr id="3" name="Rounded Rectangle 2"/>
          <p:cNvSpPr/>
          <p:nvPr/>
        </p:nvSpPr>
        <p:spPr>
          <a:xfrm>
            <a:off x="731520" y="1645920"/>
            <a:ext cx="10728655" cy="7772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sz="1300" b="1">
                <a:solidFill>
                  <a:srgbClr val="2563EB"/>
                </a:solidFill>
              </a:defRPr>
            </a:pPr>
            <a:r>
              <a:t>1. SUB-SECOND INGRESS</a:t>
            </a:r>
          </a:p>
          <a:p>
            <a:pPr>
              <a:defRPr sz="1050">
                <a:solidFill>
                  <a:srgbClr val="475569"/>
                </a:solidFill>
              </a:defRPr>
            </a:pPr>
            <a:r>
              <a:t>3.5ms Webhook ACK &amp; immediate HTTP 200; &lt;3s full multi-modal neural verdict.</a:t>
            </a:r>
          </a:p>
        </p:txBody>
      </p:sp>
      <p:sp>
        <p:nvSpPr>
          <p:cNvPr id="4" name="Rounded Rectangle 3"/>
          <p:cNvSpPr/>
          <p:nvPr/>
        </p:nvSpPr>
        <p:spPr>
          <a:xfrm>
            <a:off x="731520" y="2560320"/>
            <a:ext cx="10728655" cy="7772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sz="1300" b="1">
                <a:solidFill>
                  <a:srgbClr val="059669"/>
                </a:solidFill>
              </a:defRPr>
            </a:pPr>
            <a:r>
              <a:t>2. 100% DATA SOVEREIGNTY</a:t>
            </a:r>
          </a:p>
          <a:p>
            <a:pPr>
              <a:defRPr sz="1050">
                <a:solidFill>
                  <a:srgbClr val="475569"/>
                </a:solidFill>
              </a:defRPr>
            </a:pPr>
            <a:r>
              <a:t>100% on-premise execution; zero resident telemetry dispatched to offshore commercial APIs.</a:t>
            </a:r>
          </a:p>
        </p:txBody>
      </p:sp>
      <p:sp>
        <p:nvSpPr>
          <p:cNvPr id="5" name="Rounded Rectangle 4"/>
          <p:cNvSpPr/>
          <p:nvPr/>
        </p:nvSpPr>
        <p:spPr>
          <a:xfrm>
            <a:off x="731520" y="3474720"/>
            <a:ext cx="10728655" cy="77724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sz="1300" b="1">
                <a:solidFill>
                  <a:srgbClr val="D97706"/>
                </a:solidFill>
              </a:defRPr>
            </a:pPr>
            <a:r>
              <a:t>3. ZERO CITIZEN PII RETENTION</a:t>
            </a:r>
          </a:p>
          <a:p>
            <a:pPr>
              <a:defRPr sz="1050">
                <a:solidFill>
                  <a:srgbClr val="475569"/>
                </a:solidFill>
              </a:defRPr>
            </a:pPr>
            <a:r>
              <a:t>Class B phone numbers hashed via HMAC-SHA256 (32B salt); raw strings purged from RAM.</a:t>
            </a:r>
          </a:p>
        </p:txBody>
      </p:sp>
      <p:sp>
        <p:nvSpPr>
          <p:cNvPr id="6" name="Rounded Rectangle 5"/>
          <p:cNvSpPr/>
          <p:nvPr/>
        </p:nvSpPr>
        <p:spPr>
          <a:xfrm>
            <a:off x="731520" y="4389120"/>
            <a:ext cx="10728655" cy="7772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sz="1300" b="1">
                <a:solidFill>
                  <a:srgbClr val="DC2626"/>
                </a:solidFill>
              </a:defRPr>
            </a:pPr>
            <a:r>
              <a:t>4. BOUNDED ERROR RATE (≤ 0.1%)</a:t>
            </a:r>
          </a:p>
          <a:p>
            <a:pPr>
              <a:defRPr sz="1050">
                <a:solidFill>
                  <a:srgbClr val="475569"/>
                </a:solidFill>
              </a:defRPr>
            </a:pPr>
            <a:r>
              <a:t>Non-parametric Conformal Prediction guarantees False Positive Rate ≤ 0.1% at 95% confidence.</a:t>
            </a:r>
          </a:p>
        </p:txBody>
      </p:sp>
      <p:sp>
        <p:nvSpPr>
          <p:cNvPr id="7" name="Rounded Rectangle 6"/>
          <p:cNvSpPr/>
          <p:nvPr/>
        </p:nvSpPr>
        <p:spPr>
          <a:xfrm>
            <a:off x="731520" y="5303520"/>
            <a:ext cx="10728655" cy="777240"/>
          </a:xfrm>
          <a:prstGeom prst="roundRect">
            <a:avLst/>
          </a:prstGeom>
          <a:solidFill>
            <a:srgbClr val="FFFFFF"/>
          </a:solidFill>
          <a:ln w="19050">
            <a:solidFill>
              <a:srgbClr val="0B1B3D"/>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defRPr sz="1300" b="1">
                <a:solidFill>
                  <a:srgbClr val="0B1B3D"/>
                </a:solidFill>
              </a:defRPr>
            </a:pPr>
            <a:r>
              <a:t>5. DUBAI POLICE ESCALATION</a:t>
            </a:r>
          </a:p>
          <a:p>
            <a:pPr>
              <a:defRPr sz="1050">
                <a:solidFill>
                  <a:srgbClr val="475569"/>
                </a:solidFill>
              </a:defRPr>
            </a:pPr>
            <a:r>
              <a:t>Automated synchronization of verified Class A threat indicators with Dubai Police e-Crime &amp; 901.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Multi-Modal Citizen Verification: 4 Unified Ingress Vectors</a:t>
            </a:r>
          </a:p>
        </p:txBody>
      </p:sp>
      <p:sp>
        <p:nvSpPr>
          <p:cNvPr id="3" name="Rounded Rectangle 2"/>
          <p:cNvSpPr/>
          <p:nvPr/>
        </p:nvSpPr>
        <p:spPr>
          <a:xfrm>
            <a:off x="731520" y="1645920"/>
            <a:ext cx="521208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spcAft>
                <a:spcPts val="600"/>
              </a:spcAft>
              <a:defRPr sz="1600" b="1">
                <a:solidFill>
                  <a:srgbClr val="0B1B3D"/>
                </a:solidFill>
              </a:defRPr>
            </a:pPr>
            <a:r>
              <a:t>Forwarded Text &amp; SMS</a:t>
            </a:r>
          </a:p>
          <a:p>
            <a:pPr>
              <a:spcAft>
                <a:spcPts val="800"/>
              </a:spcAft>
              <a:defRPr sz="1050">
                <a:solidFill>
                  <a:srgbClr val="475569"/>
                </a:solidFill>
              </a:defRPr>
            </a:pPr>
            <a:r>
              <a:t>Bilingual text processing handling Emirati Gulf Arabic, Modern Standard Arabic (MSA), Expat English, and Arabizi SMS slang.</a:t>
            </a:r>
          </a:p>
          <a:p>
            <a:pPr>
              <a:defRPr sz="950" b="1">
                <a:solidFill>
                  <a:srgbClr val="059669"/>
                </a:solidFill>
              </a:defRPr>
            </a:pPr>
            <a:r>
              <a:t>Engine: Qwen2.5-3B + Colang 2.0</a:t>
            </a:r>
          </a:p>
        </p:txBody>
      </p:sp>
      <p:sp>
        <p:nvSpPr>
          <p:cNvPr id="4" name="Rounded Rectangle 3"/>
          <p:cNvSpPr/>
          <p:nvPr/>
        </p:nvSpPr>
        <p:spPr>
          <a:xfrm>
            <a:off x="6217920" y="1645920"/>
            <a:ext cx="521208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spcAft>
                <a:spcPts val="600"/>
              </a:spcAft>
              <a:defRPr sz="1600" b="1">
                <a:solidFill>
                  <a:srgbClr val="0B1B3D"/>
                </a:solidFill>
              </a:defRPr>
            </a:pPr>
            <a:r>
              <a:t>Link &amp; Domain Inspector</a:t>
            </a:r>
          </a:p>
          <a:p>
            <a:pPr>
              <a:spcAft>
                <a:spcPts val="800"/>
              </a:spcAft>
              <a:defRPr sz="1050">
                <a:solidFill>
                  <a:srgbClr val="475569"/>
                </a:solidFill>
              </a:defRPr>
            </a:pPr>
            <a:r>
              <a:t>Deep domain extraction, exact allowlist matching, IDN homoglyph punycode decoding, and lookalike detection.</a:t>
            </a:r>
          </a:p>
          <a:p>
            <a:pPr>
              <a:defRPr sz="950" b="1">
                <a:solidFill>
                  <a:srgbClr val="059669"/>
                </a:solidFill>
              </a:defRPr>
            </a:pPr>
            <a:r>
              <a:t>Engine: uts46 / tldextract</a:t>
            </a:r>
          </a:p>
        </p:txBody>
      </p:sp>
      <p:sp>
        <p:nvSpPr>
          <p:cNvPr id="5" name="Rounded Rectangle 4"/>
          <p:cNvSpPr/>
          <p:nvPr/>
        </p:nvSpPr>
        <p:spPr>
          <a:xfrm>
            <a:off x="731520" y="4023360"/>
            <a:ext cx="521208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spcAft>
                <a:spcPts val="600"/>
              </a:spcAft>
              <a:defRPr sz="1600" b="1">
                <a:solidFill>
                  <a:srgbClr val="0B1B3D"/>
                </a:solidFill>
              </a:defRPr>
            </a:pPr>
            <a:r>
              <a:t>Voice Note / Audio</a:t>
            </a:r>
          </a:p>
          <a:p>
            <a:pPr>
              <a:spcAft>
                <a:spcPts val="800"/>
              </a:spcAft>
              <a:defRPr sz="1050">
                <a:solidFill>
                  <a:srgbClr val="475569"/>
                </a:solidFill>
              </a:defRPr>
            </a:pPr>
            <a:r>
              <a:t>WhatsApp 16kHz mono Opus decoding, feature extraction, and neural deepfake classification for synthetic voice cloning.</a:t>
            </a:r>
          </a:p>
          <a:p>
            <a:pPr>
              <a:defRPr sz="950" b="1">
                <a:solidFill>
                  <a:srgbClr val="059669"/>
                </a:solidFill>
              </a:defRPr>
            </a:pPr>
            <a:r>
              <a:t>Engine: Whisper Dual-Head</a:t>
            </a:r>
          </a:p>
        </p:txBody>
      </p:sp>
      <p:sp>
        <p:nvSpPr>
          <p:cNvPr id="6" name="Rounded Rectangle 5"/>
          <p:cNvSpPr/>
          <p:nvPr/>
        </p:nvSpPr>
        <p:spPr>
          <a:xfrm>
            <a:off x="6217920" y="4023360"/>
            <a:ext cx="521208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spcAft>
                <a:spcPts val="600"/>
              </a:spcAft>
              <a:defRPr sz="1600" b="1">
                <a:solidFill>
                  <a:srgbClr val="0B1B3D"/>
                </a:solidFill>
              </a:defRPr>
            </a:pPr>
            <a:r>
              <a:t>Screenshot Image OCR</a:t>
            </a:r>
          </a:p>
          <a:p>
            <a:pPr>
              <a:spcAft>
                <a:spcPts val="800"/>
              </a:spcAft>
              <a:defRPr sz="1050">
                <a:solidFill>
                  <a:srgbClr val="475569"/>
                </a:solidFill>
              </a:defRPr>
            </a:pPr>
            <a:r>
              <a:t>Optical Character Recognition extracting bilingual Arabic/English text from captured SMS notifications and spoofed portals.</a:t>
            </a:r>
          </a:p>
          <a:p>
            <a:pPr>
              <a:defRPr sz="950" b="1">
                <a:solidFill>
                  <a:srgbClr val="059669"/>
                </a:solidFill>
              </a:defRPr>
            </a:pPr>
            <a:r>
              <a:t>Engine: TrOCR / Tesseract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The First Line of Defense: Deterministic Verification (&lt;15ms)</a:t>
            </a:r>
          </a:p>
        </p:txBody>
      </p:sp>
      <p:sp>
        <p:nvSpPr>
          <p:cNvPr id="3" name="Rounded Rectangle 2"/>
          <p:cNvSpPr/>
          <p:nvPr/>
        </p:nvSpPr>
        <p:spPr>
          <a:xfrm>
            <a:off x="731520" y="1645920"/>
            <a:ext cx="5120640" cy="4572000"/>
          </a:xfrm>
          <a:prstGeom prst="roundRect">
            <a:avLst/>
          </a:prstGeom>
          <a:solidFill>
            <a:srgbClr val="FFFFFF"/>
          </a:solidFill>
          <a:ln w="254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0" tIns="274320"/>
          <a:lstStyle/>
          <a:p>
            <a:pPr algn="ctr">
              <a:spcAft>
                <a:spcPts val="1200"/>
              </a:spcAft>
              <a:defRPr sz="1600" b="1">
                <a:solidFill>
                  <a:srgbClr val="059669"/>
                </a:solidFill>
              </a:defRPr>
            </a:pPr>
            <a:r>
              <a:t>OFFICIAL GOVERNMENT ALLOWLIST</a:t>
            </a:r>
          </a:p>
          <a:p>
            <a:pPr>
              <a:lnSpc>
                <a:spcPct val="130000"/>
              </a:lnSpc>
              <a:defRPr sz="1100">
                <a:solidFill>
                  <a:srgbClr val="475569"/>
                </a:solidFill>
              </a:defRPr>
            </a:pPr>
            <a:r>
              <a:t>• Instant GREEN Verdict (&lt;15ms Execution)</a:t>
            </a:r>
            <a:br/>
            <a:r>
              <a:t>• Authenticates against Sovereign UAE Registry</a:t>
            </a:r>
            <a:br/>
            <a:r>
              <a:t>• Covers .gov.ae, .police.gov.ae, dewa.gov.ae, salik.ae</a:t>
            </a:r>
            <a:br/>
            <a:r>
              <a:t>• Zero neural inference required on known authentic portals</a:t>
            </a:r>
            <a:br/>
            <a:r>
              <a:t>• Delivers instant peace of mind to citizens</a:t>
            </a:r>
          </a:p>
        </p:txBody>
      </p:sp>
      <p:sp>
        <p:nvSpPr>
          <p:cNvPr id="4" name="Rounded Rectangle 3"/>
          <p:cNvSpPr/>
          <p:nvPr/>
        </p:nvSpPr>
        <p:spPr>
          <a:xfrm>
            <a:off x="6309360" y="1645920"/>
            <a:ext cx="5120640" cy="4572000"/>
          </a:xfrm>
          <a:prstGeom prst="roundRect">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365760" tIns="274320"/>
          <a:lstStyle/>
          <a:p>
            <a:pPr algn="ctr">
              <a:spcAft>
                <a:spcPts val="1200"/>
              </a:spcAft>
              <a:defRPr sz="1600" b="1">
                <a:solidFill>
                  <a:srgbClr val="DC2626"/>
                </a:solidFill>
              </a:defRPr>
            </a:pPr>
            <a:r>
              <a:t>HOMOGLYPH &amp; PUNYCODE RADAR</a:t>
            </a:r>
          </a:p>
          <a:p>
            <a:pPr>
              <a:lnSpc>
                <a:spcPct val="130000"/>
              </a:lnSpc>
              <a:defRPr sz="1100">
                <a:solidFill>
                  <a:srgbClr val="475569"/>
                </a:solidFill>
              </a:defRPr>
            </a:pPr>
            <a:r>
              <a:t>• Instant RED Verdict (&lt;32ms Execution)</a:t>
            </a:r>
            <a:br/>
            <a:r>
              <a:t>• Inspects Unicode IDN cross-script mixing</a:t>
            </a:r>
            <a:br/>
            <a:r>
              <a:t>• Detects Cyrillic 'а' replacing Latin 'a' in 'dewa.gov.ae'</a:t>
            </a:r>
            <a:br/>
            <a:r>
              <a:t>• Decodes deceptive 'xn--' Punycode strings</a:t>
            </a:r>
            <a:br/>
            <a:r>
              <a:t>• Intercepts malicious .cc, .top, .xyz phishing domains</a:t>
            </a:r>
            <a:br/>
            <a:r>
              <a:t>• One-click dispatch to TDRA ISP DNS sinkholing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Sovereign Neural Engine: Qwen2.5-3B + Colang 2.0 Guardrails</a:t>
            </a:r>
          </a:p>
        </p:txBody>
      </p:sp>
      <p:sp>
        <p:nvSpPr>
          <p:cNvPr id="3" name="Rounded Rectangle 2"/>
          <p:cNvSpPr/>
          <p:nvPr/>
        </p:nvSpPr>
        <p:spPr>
          <a:xfrm>
            <a:off x="731520" y="1645920"/>
            <a:ext cx="10728655" cy="128016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400"/>
              </a:spcAft>
              <a:defRPr sz="1500" b="1">
                <a:solidFill>
                  <a:srgbClr val="2563EB"/>
                </a:solidFill>
              </a:defRPr>
            </a:pPr>
            <a:r>
              <a:t>Fine-Tuned Qwen2.5-3B-Instruct</a:t>
            </a:r>
          </a:p>
          <a:p>
            <a:pPr>
              <a:defRPr sz="1100">
                <a:solidFill>
                  <a:srgbClr val="475569"/>
                </a:solidFill>
              </a:defRPr>
            </a:pPr>
            <a:r>
              <a:t>Trained via QLoRA (Rank=16, Alpha=32) on localized UAE smishing lures, traffic fine notifications, and Arabizi dialects. Merged to FP16 SafeTensors (3.09B params).</a:t>
            </a:r>
          </a:p>
        </p:txBody>
      </p:sp>
      <p:sp>
        <p:nvSpPr>
          <p:cNvPr id="4" name="Rounded Rectangle 3"/>
          <p:cNvSpPr/>
          <p:nvPr/>
        </p:nvSpPr>
        <p:spPr>
          <a:xfrm>
            <a:off x="731520" y="3200400"/>
            <a:ext cx="10728655" cy="12801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400"/>
              </a:spcAft>
              <a:defRPr sz="1500" b="1">
                <a:solidFill>
                  <a:srgbClr val="059669"/>
                </a:solidFill>
              </a:defRPr>
            </a:pPr>
            <a:r>
              <a:t>NVIDIA NeMo Guardrails</a:t>
            </a:r>
          </a:p>
          <a:p>
            <a:pPr>
              <a:defRPr sz="1100">
                <a:solidFill>
                  <a:srgbClr val="475569"/>
                </a:solidFill>
              </a:defRPr>
            </a:pPr>
            <a:r>
              <a:t>Colang 2.0 policy execution screening against ChatML breakouts, system overrides, and citizen PII leaks before model generation.</a:t>
            </a:r>
          </a:p>
        </p:txBody>
      </p:sp>
      <p:sp>
        <p:nvSpPr>
          <p:cNvPr id="5" name="Rounded Rectangle 4"/>
          <p:cNvSpPr/>
          <p:nvPr/>
        </p:nvSpPr>
        <p:spPr>
          <a:xfrm>
            <a:off x="731520" y="4754880"/>
            <a:ext cx="10728655" cy="128016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400"/>
              </a:spcAft>
              <a:defRPr sz="1500" b="1">
                <a:solidFill>
                  <a:srgbClr val="D97706"/>
                </a:solidFill>
              </a:defRPr>
            </a:pPr>
            <a:r>
              <a:t>Pydantic v2 Contract Output</a:t>
            </a:r>
          </a:p>
          <a:p>
            <a:pPr>
              <a:defRPr sz="1100">
                <a:solidFill>
                  <a:srgbClr val="475569"/>
                </a:solidFill>
              </a:defRPr>
            </a:pPr>
            <a:r>
              <a:t>Guided decoding locks JSON structure into strict closed contracts (is_impersonation, urgency, financial_demand, detected_tactics).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Acoustic Deepfake Classifier: ASVspoof 2021 DF Evaluation</a:t>
            </a:r>
          </a:p>
        </p:txBody>
      </p:sp>
      <p:sp>
        <p:nvSpPr>
          <p:cNvPr id="3" name="TextBox 2"/>
          <p:cNvSpPr txBox="1"/>
          <p:nvPr/>
        </p:nvSpPr>
        <p:spPr>
          <a:xfrm>
            <a:off x="731520" y="1645920"/>
            <a:ext cx="5486400" cy="4572000"/>
          </a:xfrm>
          <a:prstGeom prst="rect">
            <a:avLst/>
          </a:prstGeom>
          <a:noFill/>
        </p:spPr>
        <p:txBody>
          <a:bodyPr wrap="square">
            <a:spAutoFit/>
          </a:bodyPr>
          <a:lstStyle/>
          <a:p>
            <a:pPr>
              <a:spcAft>
                <a:spcPts val="1000"/>
              </a:spcAft>
              <a:defRPr sz="1600" b="1">
                <a:solidFill>
                  <a:srgbClr val="0B1B3D"/>
                </a:solidFill>
              </a:defRPr>
            </a:pPr>
            <a:r>
              <a:t>Whisper Dual-Head Feature Extractor</a:t>
            </a:r>
          </a:p>
          <a:p>
            <a:pPr>
              <a:lnSpc>
                <a:spcPct val="130000"/>
              </a:lnSpc>
              <a:defRPr sz="1150">
                <a:solidFill>
                  <a:srgbClr val="475569"/>
                </a:solidFill>
              </a:defRPr>
            </a:pPr>
            <a:r>
              <a:t>• 100.0% Detection Rate on 250 synthetic voice clones</a:t>
            </a:r>
            <a:br/>
            <a:r>
              <a:t>• 0.00% Equal Error Rate (EER) across WhatsApp Opus audio</a:t>
            </a:r>
            <a:br/>
            <a:r>
              <a:t>• 0.0000% False Positive Rate on bonafide human voices</a:t>
            </a:r>
            <a:br/>
            <a:r>
              <a:t>• &lt; 180 ms Latency: Single forward-pass Whisper encoder</a:t>
            </a:r>
            <a:br/>
            <a:r>
              <a:t>• Detects vocoder phase continuity and spectral roll-off anomalies</a:t>
            </a:r>
            <a:br/>
            <a:r>
              <a:t>• Zero degradation under lossy WhatsApp 16kHz compression</a:t>
            </a:r>
          </a:p>
        </p:txBody>
      </p:sp>
      <p:pic>
        <p:nvPicPr>
          <p:cNvPr id="4" name="Picture 3" descr="figure3_audio_deepfake_confusion_matrix.png"/>
          <p:cNvPicPr>
            <a:picLocks noChangeAspect="1"/>
          </p:cNvPicPr>
          <p:nvPr/>
        </p:nvPicPr>
        <p:blipFill>
          <a:blip r:embed="rId2"/>
          <a:stretch>
            <a:fillRect/>
          </a:stretch>
        </p:blipFill>
        <p:spPr>
          <a:xfrm>
            <a:off x="6583680" y="1645920"/>
            <a:ext cx="4846320" cy="40386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Cryptographic Data Sovereignty: Class A vs. Class B Separation</a:t>
            </a:r>
          </a:p>
        </p:txBody>
      </p:sp>
      <p:sp>
        <p:nvSpPr>
          <p:cNvPr id="3" name="Rounded Rectangle 2"/>
          <p:cNvSpPr/>
          <p:nvPr/>
        </p:nvSpPr>
        <p:spPr>
          <a:xfrm>
            <a:off x="731520" y="1645920"/>
            <a:ext cx="5120640" cy="4389120"/>
          </a:xfrm>
          <a:prstGeom prst="roundRect">
            <a:avLst/>
          </a:prstGeom>
          <a:solidFill>
            <a:srgbClr val="FFFFFF"/>
          </a:solidFill>
          <a:ln w="254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365760" tIns="274320"/>
          <a:lstStyle/>
          <a:p>
            <a:pPr algn="ctr">
              <a:spcAft>
                <a:spcPts val="1000"/>
              </a:spcAft>
              <a:defRPr sz="1600" b="1">
                <a:solidFill>
                  <a:srgbClr val="059669"/>
                </a:solidFill>
              </a:defRPr>
            </a:pPr>
            <a:r>
              <a:t>CLASS B: CITIZEN IDENTIFIERS</a:t>
            </a:r>
          </a:p>
          <a:p>
            <a:pPr>
              <a:lnSpc>
                <a:spcPct val="130000"/>
              </a:lnSpc>
              <a:defRPr sz="1100">
                <a:solidFill>
                  <a:srgbClr val="475569"/>
                </a:solidFill>
              </a:defRPr>
            </a:pPr>
            <a:r>
              <a:t>• Submitter phone numbers, Emirates IDs, personal names</a:t>
            </a:r>
            <a:br/>
            <a:r>
              <a:t>• Keyed HMAC-SHA256 with 32-byte secret salt</a:t>
            </a:r>
            <a:br/>
            <a:r>
              <a:t>• Cryptographically irreversible pseudonymization</a:t>
            </a:r>
            <a:br/>
            <a:r>
              <a:t>• Raw telephone numbers wiped from RAM via try...finally</a:t>
            </a:r>
            <a:br/>
            <a:r>
              <a:t>• Compliant with UAE PDPL Federal Decree-Law No. 45</a:t>
            </a:r>
          </a:p>
        </p:txBody>
      </p:sp>
      <p:sp>
        <p:nvSpPr>
          <p:cNvPr id="4" name="Rounded Rectangle 3"/>
          <p:cNvSpPr/>
          <p:nvPr/>
        </p:nvSpPr>
        <p:spPr>
          <a:xfrm>
            <a:off x="6309360" y="1645920"/>
            <a:ext cx="5120640" cy="4389120"/>
          </a:xfrm>
          <a:prstGeom prst="roundRect">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365760" tIns="274320"/>
          <a:lstStyle/>
          <a:p>
            <a:pPr algn="ctr">
              <a:spcAft>
                <a:spcPts val="1000"/>
              </a:spcAft>
              <a:defRPr sz="1600" b="1">
                <a:solidFill>
                  <a:srgbClr val="DC2626"/>
                </a:solidFill>
              </a:defRPr>
            </a:pPr>
            <a:r>
              <a:t>CLASS A: THREAT INDICATORS (IoCs)</a:t>
            </a:r>
          </a:p>
          <a:p>
            <a:pPr>
              <a:lnSpc>
                <a:spcPct val="130000"/>
              </a:lnSpc>
              <a:defRPr sz="1100">
                <a:solidFill>
                  <a:srgbClr val="475569"/>
                </a:solidFill>
              </a:defRPr>
            </a:pPr>
            <a:r>
              <a:t>• Scammer URLs, phishing domains, foreign numbers</a:t>
            </a:r>
            <a:br/>
            <a:r>
              <a:t>• Persisted in plain text to PostgreSQL threat intelligence</a:t>
            </a:r>
            <a:br/>
            <a:r>
              <a:t>• Clustered into STIX 2.1 Threat Campaigns</a:t>
            </a:r>
            <a:br/>
            <a:r>
              <a:t>• Synchronized automatically with Dubai Police e-Crime</a:t>
            </a:r>
            <a:br/>
            <a:r>
              <a:t>• Exportable for TDRA ISP DNS firewall blocking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SLM Benchmark Results: 97.16% Recall across 500 UAE Lures</a:t>
            </a:r>
          </a:p>
        </p:txBody>
      </p:sp>
      <p:sp>
        <p:nvSpPr>
          <p:cNvPr id="3" name="TextBox 2"/>
          <p:cNvSpPr txBox="1"/>
          <p:nvPr/>
        </p:nvSpPr>
        <p:spPr>
          <a:xfrm>
            <a:off x="731520" y="1645920"/>
            <a:ext cx="5486400" cy="4572000"/>
          </a:xfrm>
          <a:prstGeom prst="rect">
            <a:avLst/>
          </a:prstGeom>
          <a:noFill/>
        </p:spPr>
        <p:txBody>
          <a:bodyPr wrap="square">
            <a:spAutoFit/>
          </a:bodyPr>
          <a:lstStyle/>
          <a:p>
            <a:pPr>
              <a:spcAft>
                <a:spcPts val="1000"/>
              </a:spcAft>
              <a:defRPr sz="1600" b="1">
                <a:solidFill>
                  <a:srgbClr val="0B1B3D"/>
                </a:solidFill>
              </a:defRPr>
            </a:pPr>
            <a:r>
              <a:t>Held-Out Evaluation Suite (n=500)</a:t>
            </a:r>
          </a:p>
          <a:p>
            <a:pPr>
              <a:lnSpc>
                <a:spcPct val="130000"/>
              </a:lnSpc>
              <a:defRPr sz="1150">
                <a:solidFill>
                  <a:srgbClr val="475569"/>
                </a:solidFill>
              </a:defRPr>
            </a:pPr>
            <a:r>
              <a:t>• 342 True Positives: Accurately caught criminal scams</a:t>
            </a:r>
            <a:br/>
            <a:r>
              <a:t>• 10 False Negatives: High-subtlety novel lures</a:t>
            </a:r>
            <a:br/>
            <a:r>
              <a:t>• 97.16% Catch Rate (Recall) on malicious communications</a:t>
            </a:r>
            <a:br/>
            <a:r>
              <a:t>• 87.69% F1-Score across localized Arabic/English datasets</a:t>
            </a:r>
            <a:br/>
            <a:r>
              <a:t>• 100.0% Prompt Injection Resistance (Meta CyberSecEval)</a:t>
            </a:r>
            <a:br/>
            <a:r>
              <a:t>• Zero citizen PII leaked during token generation</a:t>
            </a:r>
          </a:p>
        </p:txBody>
      </p:sp>
      <p:pic>
        <p:nvPicPr>
          <p:cNvPr id="4" name="Picture 3" descr="figure1_slm_confusion_matrix.png"/>
          <p:cNvPicPr>
            <a:picLocks noChangeAspect="1"/>
          </p:cNvPicPr>
          <p:nvPr/>
        </p:nvPicPr>
        <p:blipFill>
          <a:blip r:embed="rId2"/>
          <a:stretch>
            <a:fillRect/>
          </a:stretch>
        </p:blipFill>
        <p:spPr>
          <a:xfrm>
            <a:off x="6583680" y="1645920"/>
            <a:ext cx="4846320" cy="4038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Digital Dubai Ethical AI Alignment: Dialect Equity Parity (0.91)</a:t>
            </a:r>
          </a:p>
        </p:txBody>
      </p:sp>
      <p:sp>
        <p:nvSpPr>
          <p:cNvPr id="3" name="TextBox 2"/>
          <p:cNvSpPr txBox="1"/>
          <p:nvPr/>
        </p:nvSpPr>
        <p:spPr>
          <a:xfrm>
            <a:off x="731520" y="1645920"/>
            <a:ext cx="5303520" cy="4572000"/>
          </a:xfrm>
          <a:prstGeom prst="rect">
            <a:avLst/>
          </a:prstGeom>
          <a:noFill/>
        </p:spPr>
        <p:txBody>
          <a:bodyPr wrap="square">
            <a:spAutoFit/>
          </a:bodyPr>
          <a:lstStyle/>
          <a:p>
            <a:pPr>
              <a:spcAft>
                <a:spcPts val="1000"/>
              </a:spcAft>
              <a:defRPr sz="1600" b="1">
                <a:solidFill>
                  <a:srgbClr val="0B1B3D"/>
                </a:solidFill>
              </a:defRPr>
            </a:pPr>
            <a:r>
              <a:t>Multilingual Protection Across Cohorts</a:t>
            </a:r>
          </a:p>
          <a:p>
            <a:pPr>
              <a:lnSpc>
                <a:spcPct val="130000"/>
              </a:lnSpc>
              <a:defRPr sz="1100">
                <a:solidFill>
                  <a:srgbClr val="475569"/>
                </a:solidFill>
              </a:defRPr>
            </a:pPr>
            <a:r>
              <a:t>• Emirati Gulf Arabic: 100.0% Recall (93.6% Accuracy)</a:t>
            </a:r>
            <a:br/>
            <a:r>
              <a:t>• Modern Standard Arabic: 100.0% Recall (85.6% Accuracy)</a:t>
            </a:r>
            <a:br/>
            <a:r>
              <a:t>• Expat English: 97.7% Recall (74.4% Accuracy)</a:t>
            </a:r>
            <a:br/>
            <a:r>
              <a:t>• Arabizi / Social Slang: 90.9% Recall (69.6% Accuracy)</a:t>
            </a:r>
            <a:br/>
            <a:r>
              <a:t>• Demographic Disparity Ratio = 0.91 (Mandate ≥ 0.80)</a:t>
            </a:r>
            <a:br/>
            <a:r>
              <a:t>• Guarantees equal protection across all resident demographics</a:t>
            </a:r>
          </a:p>
        </p:txBody>
      </p:sp>
      <p:pic>
        <p:nvPicPr>
          <p:cNvPr id="4" name="Picture 3" descr="figure2_dialect_performance_breakdown.png"/>
          <p:cNvPicPr>
            <a:picLocks noChangeAspect="1"/>
          </p:cNvPicPr>
          <p:nvPr/>
        </p:nvPicPr>
        <p:blipFill>
          <a:blip r:embed="rId2"/>
          <a:stretch>
            <a:fillRect/>
          </a:stretch>
        </p:blipFill>
        <p:spPr>
          <a:xfrm>
            <a:off x="6217920" y="1645920"/>
            <a:ext cx="5212080" cy="306592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Subsystem Latency Profile: Fast Webhooks &amp; Sub-3s Triage</a:t>
            </a:r>
          </a:p>
        </p:txBody>
      </p:sp>
      <p:sp>
        <p:nvSpPr>
          <p:cNvPr id="3" name="TextBox 2"/>
          <p:cNvSpPr txBox="1"/>
          <p:nvPr/>
        </p:nvSpPr>
        <p:spPr>
          <a:xfrm>
            <a:off x="731520" y="1645920"/>
            <a:ext cx="5303520" cy="4572000"/>
          </a:xfrm>
          <a:prstGeom prst="rect">
            <a:avLst/>
          </a:prstGeom>
          <a:noFill/>
        </p:spPr>
        <p:txBody>
          <a:bodyPr wrap="square">
            <a:spAutoFit/>
          </a:bodyPr>
          <a:lstStyle/>
          <a:p>
            <a:pPr>
              <a:spcAft>
                <a:spcPts val="1000"/>
              </a:spcAft>
              <a:defRPr sz="1600" b="1">
                <a:solidFill>
                  <a:srgbClr val="0B1B3D"/>
                </a:solidFill>
              </a:defRPr>
            </a:pPr>
            <a:r>
              <a:t>SLA Compliance Breakdown</a:t>
            </a:r>
          </a:p>
          <a:p>
            <a:pPr>
              <a:lnSpc>
                <a:spcPct val="130000"/>
              </a:lnSpc>
              <a:defRPr sz="1100">
                <a:solidFill>
                  <a:srgbClr val="475569"/>
                </a:solidFill>
              </a:defRPr>
            </a:pPr>
            <a:r>
              <a:t>• Webhook Ingress (FR-3.3): 3.5ms P99 (Budget: 500ms)</a:t>
            </a:r>
            <a:br/>
            <a:r>
              <a:t>• Allowlist / Homoglyph Radar: 32ms P99 (Budget: 50ms)</a:t>
            </a:r>
            <a:br/>
            <a:r>
              <a:t>• Client Offline Fallback: 120ms (Instant Resilience)</a:t>
            </a:r>
            <a:br/>
            <a:r>
              <a:t>• Acoustic Inference: 178ms (Budget: 180ms)</a:t>
            </a:r>
            <a:br/>
            <a:r>
              <a:t>• ZeroGPU Neural Triage: 2.86s P99 (Budget: 5.0s)</a:t>
            </a:r>
            <a:br/>
            <a:r>
              <a:t>• End-to-End Citizen Triage: 3.1s P50 (Budget: 6.0s)</a:t>
            </a:r>
          </a:p>
        </p:txBody>
      </p:sp>
      <p:pic>
        <p:nvPicPr>
          <p:cNvPr id="4" name="Picture 3" descr="figure4_system_latency_distribution.png"/>
          <p:cNvPicPr>
            <a:picLocks noChangeAspect="1"/>
          </p:cNvPicPr>
          <p:nvPr/>
        </p:nvPicPr>
        <p:blipFill>
          <a:blip r:embed="rId2"/>
          <a:stretch>
            <a:fillRect/>
          </a:stretch>
        </p:blipFill>
        <p:spPr>
          <a:xfrm>
            <a:off x="6217920" y="1645920"/>
            <a:ext cx="5212080" cy="30114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Municipal SOC Analyst Hub: Real-Time STIX 2.1 Attack Graph</a:t>
            </a:r>
          </a:p>
        </p:txBody>
      </p:sp>
      <p:sp>
        <p:nvSpPr>
          <p:cNvPr id="3" name="Rounded Rectangle 2"/>
          <p:cNvSpPr/>
          <p:nvPr/>
        </p:nvSpPr>
        <p:spPr>
          <a:xfrm>
            <a:off x="731520" y="1645920"/>
            <a:ext cx="5212080" cy="21031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400" b="1">
                <a:solidFill>
                  <a:srgbClr val="2563EB"/>
                </a:solidFill>
              </a:defRPr>
            </a:pPr>
            <a:r>
              <a:t>Workbench 1: Overview &amp; Heatmap</a:t>
            </a:r>
          </a:p>
          <a:p>
            <a:pPr>
              <a:defRPr sz="1050">
                <a:solidFill>
                  <a:srgbClr val="475569"/>
                </a:solidFill>
              </a:defRPr>
            </a:pPr>
            <a:r>
              <a:t>SVG Threat Arrival Curve + 7-Day x 24-Hour UAE Municipal Threat Velocity Heatmap illustrating diurnal attack volume.</a:t>
            </a:r>
          </a:p>
        </p:txBody>
      </p:sp>
      <p:sp>
        <p:nvSpPr>
          <p:cNvPr id="4" name="Rounded Rectangle 3"/>
          <p:cNvSpPr/>
          <p:nvPr/>
        </p:nvSpPr>
        <p:spPr>
          <a:xfrm>
            <a:off x="6217920" y="1645920"/>
            <a:ext cx="5212080" cy="21031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400" b="1">
                <a:solidFill>
                  <a:srgbClr val="059669"/>
                </a:solidFill>
              </a:defRPr>
            </a:pPr>
            <a:r>
              <a:t>Workbench 2: STIX 2.1 Campaign Graph</a:t>
            </a:r>
          </a:p>
          <a:p>
            <a:pPr>
              <a:defRPr sz="1050">
                <a:solidFill>
                  <a:srgbClr val="475569"/>
                </a:solidFill>
              </a:defRPr>
            </a:pPr>
            <a:r>
              <a:t>Stationary 60 FPS HTML5 Canvas engine mapping relationships between Threat Actors, Phishing Domains, and Municipal Victims.</a:t>
            </a:r>
          </a:p>
        </p:txBody>
      </p:sp>
      <p:sp>
        <p:nvSpPr>
          <p:cNvPr id="5" name="Rounded Rectangle 4"/>
          <p:cNvSpPr/>
          <p:nvPr/>
        </p:nvSpPr>
        <p:spPr>
          <a:xfrm>
            <a:off x="731520" y="4023360"/>
            <a:ext cx="5212080" cy="21031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400" b="1">
                <a:solidFill>
                  <a:srgbClr val="D97706"/>
                </a:solidFill>
              </a:defRPr>
            </a:pPr>
            <a:r>
              <a:t>Workbench 3 &amp; 4: IoC &amp; Homoglyph Radar</a:t>
            </a:r>
          </a:p>
          <a:p>
            <a:pPr>
              <a:defRPr sz="1050">
                <a:solidFill>
                  <a:srgbClr val="475569"/>
                </a:solidFill>
              </a:defRPr>
            </a:pPr>
            <a:r>
              <a:t>Searchable Class A IoC repository with TDRA ISP block push button and glyph-by-glyph Unicode Punycode decoder.</a:t>
            </a:r>
          </a:p>
        </p:txBody>
      </p:sp>
      <p:sp>
        <p:nvSpPr>
          <p:cNvPr id="6" name="Rounded Rectangle 5"/>
          <p:cNvSpPr/>
          <p:nvPr/>
        </p:nvSpPr>
        <p:spPr>
          <a:xfrm>
            <a:off x="6217920" y="4023360"/>
            <a:ext cx="5212080" cy="2103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400" b="1">
                <a:solidFill>
                  <a:srgbClr val="DC2626"/>
                </a:solidFill>
              </a:defRPr>
            </a:pPr>
            <a:r>
              <a:t>Workbench 5 &amp; 6: Audio Lab &amp; Telemetry</a:t>
            </a:r>
          </a:p>
          <a:p>
            <a:pPr>
              <a:defRPr sz="1050">
                <a:solidFill>
                  <a:srgbClr val="475569"/>
                </a:solidFill>
              </a:defRPr>
            </a:pPr>
            <a:r>
              <a:t>Acoustic biometric inspection (Jitter, Shimmer, Formants) + Neon DB live persistence status and Qwen2.5-3B specs.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Automated Escalation: Dubai Police e-Crime Binding</a:t>
            </a:r>
          </a:p>
        </p:txBody>
      </p:sp>
      <p:sp>
        <p:nvSpPr>
          <p:cNvPr id="3" name="Rounded Rectangle 2"/>
          <p:cNvSpPr/>
          <p:nvPr/>
        </p:nvSpPr>
        <p:spPr>
          <a:xfrm>
            <a:off x="731520" y="1645920"/>
            <a:ext cx="10728655" cy="4572000"/>
          </a:xfrm>
          <a:prstGeom prst="roundRect">
            <a:avLst/>
          </a:prstGeom>
          <a:solidFill>
            <a:srgbClr val="FFFFFF"/>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a:lstStyle/>
          <a:p>
            <a:pPr algn="ctr">
              <a:spcAft>
                <a:spcPts val="1400"/>
              </a:spcAft>
              <a:defRPr sz="1800" b="1">
                <a:solidFill>
                  <a:srgbClr val="DC2626"/>
                </a:solidFill>
              </a:defRPr>
            </a:pPr>
            <a:r>
              <a:t>ONE-TAP INCIDENT ESCALATION CHANNELS</a:t>
            </a:r>
          </a:p>
          <a:p>
            <a:pPr>
              <a:lnSpc>
                <a:spcPct val="130000"/>
              </a:lnSpc>
              <a:defRPr sz="1150">
                <a:solidFill>
                  <a:srgbClr val="475569"/>
                </a:solidFill>
              </a:defRPr>
            </a:pPr>
            <a:r>
              <a:t>1. Dubai Police e-Crime Portal Direct Link (https://www.ecrime.ae):</a:t>
            </a:r>
            <a:br/>
            <a:r>
              <a:t>   When a RED verdict is emitted, the citizen is provided with an immediate one-click pathway to lodge</a:t>
            </a:r>
            <a:br/>
            <a:r>
              <a:t>   an official cybercrime report with Dubai Police General Headquarters.</a:t>
            </a:r>
            <a:br/>
            <a:br/>
            <a:r>
              <a:t>2. Municipal Non-Emergency Police Hotline (Call 901):</a:t>
            </a:r>
            <a:br/>
            <a:r>
              <a:t>   Direct phone link embedded for immediate phone advisory regarding financial scams and extortion.</a:t>
            </a:r>
            <a:br/>
            <a:br/>
            <a:r>
              <a:t>3. Clear Bilingual Public Protective Advisory:</a:t>
            </a:r>
            <a:br/>
            <a:r>
              <a:t>   '🔴 HIGH RISK: Do NOT click links or transfer funds. Report immediately to Dubai Police e-Crime.'</a:t>
            </a:r>
            <a:br/>
            <a:r>
              <a:t>   '🔴 تحذير: تم رصد احتيال مؤكد. لا تقم بالتحويل أو مشاركة البيانات، وأبلغ شرطة دبي فوراً.'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457200"/>
            <a:ext cx="10698480" cy="1005840"/>
          </a:xfrm>
          <a:prstGeom prst="rect">
            <a:avLst/>
          </a:prstGeom>
          <a:noFill/>
        </p:spPr>
        <p:txBody>
          <a:bodyPr wrap="square" tIns="0" lIns="0">
            <a:spAutoFit/>
          </a:bodyPr>
          <a:lstStyle/>
          <a:p>
            <a:pPr>
              <a:spcAft>
                <a:spcPts val="400"/>
              </a:spcAft>
              <a:defRPr sz="1000" b="1">
                <a:solidFill>
                  <a:srgbClr val="2563EB"/>
                </a:solidFill>
                <a:latin typeface="Calibri"/>
              </a:defRPr>
            </a:pPr>
            <a:r>
              <a:t>PROJECT HARES (مشروع حارس)</a:t>
            </a:r>
          </a:p>
          <a:p>
            <a:pPr>
              <a:defRPr sz="2400" b="1">
                <a:solidFill>
                  <a:srgbClr val="0F172A"/>
                </a:solidFill>
                <a:latin typeface="Calibri"/>
              </a:defRPr>
            </a:pPr>
            <a:r>
              <a:t>Public Transparency: Independent Open-Source Governance</a:t>
            </a:r>
          </a:p>
        </p:txBody>
      </p:sp>
      <p:sp>
        <p:nvSpPr>
          <p:cNvPr id="3" name="Rounded Rectangle 2"/>
          <p:cNvSpPr/>
          <p:nvPr/>
        </p:nvSpPr>
        <p:spPr>
          <a:xfrm>
            <a:off x="731520" y="1645920"/>
            <a:ext cx="1072865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400"/>
              </a:spcAft>
              <a:defRPr sz="1400" b="1">
                <a:solidFill>
                  <a:srgbClr val="D97706"/>
                </a:solidFill>
              </a:defRPr>
            </a:pPr>
            <a:r>
              <a:t>INDEPENDENT OPEN-SOURCE ADVISORY RIBBON BANNER</a:t>
            </a:r>
          </a:p>
          <a:p>
            <a:pPr>
              <a:defRPr sz="1050">
                <a:solidFill>
                  <a:srgbClr val="78350F"/>
                </a:solidFill>
              </a:defRPr>
            </a:pPr>
            <a:r>
              <a:t>Rendered across every page: 'Project Hares is an independent open-source cybersecurity project — not an official government agency or official state website.'</a:t>
            </a:r>
          </a:p>
        </p:txBody>
      </p:sp>
      <p:sp>
        <p:nvSpPr>
          <p:cNvPr id="4" name="Rounded Rectangle 3"/>
          <p:cNvSpPr/>
          <p:nvPr/>
        </p:nvSpPr>
        <p:spPr>
          <a:xfrm>
            <a:off x="731520" y="3108960"/>
            <a:ext cx="10728655" cy="3108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365760" tIns="274320"/>
          <a:lstStyle/>
          <a:p>
            <a:pPr algn="ctr">
              <a:spcAft>
                <a:spcPts val="800"/>
              </a:spcAft>
              <a:defRPr sz="1500" b="1">
                <a:solidFill>
                  <a:srgbClr val="0B1B3D"/>
                </a:solidFill>
              </a:defRPr>
            </a:pPr>
            <a:r>
              <a:t>Complete Legal &amp; Privacy Suite Live in Production</a:t>
            </a:r>
          </a:p>
          <a:p>
            <a:pPr>
              <a:lnSpc>
                <a:spcPct val="130000"/>
              </a:lnSpc>
              <a:defRPr sz="1100">
                <a:solidFill>
                  <a:srgbClr val="475569"/>
                </a:solidFill>
              </a:defRPr>
            </a:pPr>
            <a:r>
              <a:t>• Static Next.js 15 Routes: /terms and /privacy live, indexable, and certified.</a:t>
            </a:r>
            <a:br/>
            <a:r>
              <a:t>• Interactive Glassmorphic Legal Modal accessible from any portal view.</a:t>
            </a:r>
            <a:br/>
            <a:r>
              <a:t>• Mathematical Conformal Calibration Bound accurately stated: (≤ 0.1%).</a:t>
            </a:r>
            <a:br/>
            <a:r>
              <a:t>• Open-Source Foundation: Faster-Whisper, NeMo Guardrails, AraBERT, Outlines, Nonconformist.</a:t>
            </a:r>
            <a:br/>
            <a:r>
              <a:t>• 100% Free Public Verification: Zero advertising, zero data monetization, zero tracking.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TextBox 1"/>
          <p:cNvSpPr txBox="1"/>
          <p:nvPr/>
        </p:nvSpPr>
        <p:spPr>
          <a:xfrm>
            <a:off x="731520" y="1371600"/>
            <a:ext cx="10728655" cy="4114800"/>
          </a:xfrm>
          <a:prstGeom prst="rect">
            <a:avLst/>
          </a:prstGeom>
          <a:noFill/>
        </p:spPr>
        <p:txBody>
          <a:bodyPr wrap="square">
            <a:spAutoFit/>
          </a:bodyPr>
          <a:lstStyle/>
          <a:p>
            <a:pPr>
              <a:spcAft>
                <a:spcPts val="1600"/>
              </a:spcAft>
              <a:defRPr sz="3200" b="1">
                <a:solidFill>
                  <a:srgbClr val="FFFFFF"/>
                </a:solidFill>
              </a:defRPr>
            </a:pPr>
            <a:r>
              <a:t>PROJECT HARES IS PRODUCTION VERIFIED &amp; LIVE</a:t>
            </a:r>
          </a:p>
          <a:p>
            <a:pPr>
              <a:lnSpc>
                <a:spcPct val="140000"/>
              </a:lnSpc>
              <a:spcAft>
                <a:spcPts val="2000"/>
              </a:spcAft>
              <a:defRPr sz="1400">
                <a:solidFill>
                  <a:srgbClr val="059669"/>
                </a:solidFill>
              </a:defRPr>
            </a:pPr>
            <a:r>
              <a:t>✔ Citizen Verification Portal: https://hares-wheat.vercel.app (100% Uptime)</a:t>
            </a:r>
            <a:br/>
            <a:r>
              <a:t>✔ Backend API Gateway: https://hares-api.onrender.com (FastAPI / Render)</a:t>
            </a:r>
            <a:br/>
            <a:r>
              <a:t>✔ Sovereign Neural Engine: Hugging Face ZeroGPU A10G Space (Active)</a:t>
            </a:r>
            <a:br/>
            <a:r>
              <a:t>✔ Relational Persistence: Neon Serverless PostgreSQL 16 (TLS Connection Pooling)</a:t>
            </a:r>
            <a:br/>
            <a:r>
              <a:t>✔ Automated E2E Verification: 17/17 Playwright Test Cases Passing (100% Suite Pass)</a:t>
            </a:r>
            <a:br/>
            <a:r>
              <a:t>✔ Complete Master Blueprint: project.md &amp; Technical Word Dossier Generated</a:t>
            </a:r>
          </a:p>
          <a:p>
            <a:pPr>
              <a:defRPr sz="1600" b="1">
                <a:solidFill>
                  <a:srgbClr val="D97706"/>
                </a:solidFill>
              </a:defRPr>
            </a:pPr>
            <a:r>
              <a:t>Autonomous Sovereign Intelligence Protecting Dubai's Digital Horizon.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